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Aptos Bold" charset="1" panose="020B0004020202020204"/>
      <p:regular r:id="rId22"/>
    </p:embeddedFont>
    <p:embeddedFont>
      <p:font typeface="Aptos" charset="1" panose="020B0004020202020204"/>
      <p:regular r:id="rId23"/>
    </p:embeddedFont>
    <p:embeddedFont>
      <p:font typeface="Inter" charset="1" panose="020B0502030000000004"/>
      <p:regular r:id="rId24"/>
    </p:embeddedFont>
    <p:embeddedFont>
      <p:font typeface="JetBrains Mono Bold" charset="1" panose="02010809030102050004"/>
      <p:regular r:id="rId25"/>
    </p:embeddedFont>
    <p:embeddedFont>
      <p:font typeface="JetBrains Mono" charset="1" panose="020105090201020500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52400"/>
            <a:chOff x="0" y="0"/>
            <a:chExt cx="24384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03200"/>
            </a:xfrm>
            <a:custGeom>
              <a:avLst/>
              <a:gdLst/>
              <a:ahLst/>
              <a:cxnLst/>
              <a:rect r="r" b="b" t="t" l="l"/>
              <a:pathLst>
                <a:path h="203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4A90D9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2476500" y="2178571"/>
            <a:ext cx="1333500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00"/>
              </a:lnSpc>
              <a:spcBef>
                <a:spcPct val="0"/>
              </a:spcBef>
            </a:pPr>
            <a:r>
              <a:rPr lang="en-US" b="true" sz="6000" strike="noStrike" u="none">
                <a:solidFill>
                  <a:srgbClr val="1A1A2E"/>
                </a:solidFill>
                <a:latin typeface="Aptos Bold"/>
                <a:ea typeface="Aptos Bold"/>
                <a:cs typeface="Aptos Bold"/>
                <a:sym typeface="Aptos Bold"/>
              </a:rPr>
              <a:t>Device Communication using UART</a:t>
            </a:r>
          </a:p>
        </p:txBody>
      </p:sp>
      <p:sp>
        <p:nvSpPr>
          <p:cNvPr name="AutoShape 5" id="5"/>
          <p:cNvSpPr/>
          <p:nvPr/>
        </p:nvSpPr>
        <p:spPr>
          <a:xfrm>
            <a:off x="7239000" y="3312046"/>
            <a:ext cx="3810000" cy="0"/>
          </a:xfrm>
          <a:prstGeom prst="line">
            <a:avLst/>
          </a:prstGeom>
          <a:ln cap="rnd" w="28575">
            <a:solidFill>
              <a:srgbClr val="4A90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4381500" y="3535883"/>
            <a:ext cx="952500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20"/>
              </a:lnSpc>
              <a:spcBef>
                <a:spcPct val="0"/>
              </a:spcBef>
            </a:pPr>
            <a:r>
              <a:rPr lang="en-US" b="true" sz="3600" strike="noStrike" u="none">
                <a:solidFill>
                  <a:srgbClr val="333333"/>
                </a:solidFill>
                <a:latin typeface="Aptos Bold"/>
                <a:ea typeface="Aptos Bold"/>
                <a:cs typeface="Aptos Bold"/>
                <a:sym typeface="Aptos Bold"/>
              </a:rPr>
              <a:t>EE272L Digital System Lab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381500" y="4264546"/>
            <a:ext cx="95250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799" strike="noStrike" u="none">
                <a:solidFill>
                  <a:srgbClr val="555555"/>
                </a:solidFill>
                <a:latin typeface="Aptos Bold"/>
                <a:ea typeface="Aptos Bold"/>
                <a:cs typeface="Aptos Bold"/>
                <a:sym typeface="Aptos Bold"/>
              </a:rPr>
              <a:t>Instructor: Miss Mahnoor Farhat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286500" y="5407546"/>
            <a:ext cx="57150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39"/>
              </a:lnSpc>
              <a:spcBef>
                <a:spcPct val="0"/>
              </a:spcBef>
            </a:pPr>
            <a:r>
              <a:rPr lang="en-US" b="true" sz="2199" strike="noStrike" u="none">
                <a:solidFill>
                  <a:srgbClr val="4A90D9"/>
                </a:solidFill>
                <a:latin typeface="Aptos Bold"/>
                <a:ea typeface="Aptos Bold"/>
                <a:cs typeface="Aptos Bold"/>
                <a:sym typeface="Aptos Bold"/>
              </a:rPr>
              <a:t>TEAM MEMBERS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334000" y="5979046"/>
            <a:ext cx="76200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2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1A1A2E"/>
                </a:solidFill>
                <a:latin typeface="Aptos"/>
                <a:ea typeface="Aptos"/>
                <a:cs typeface="Aptos"/>
                <a:sym typeface="Aptos"/>
              </a:rPr>
              <a:t>Haiqua Ghaffar  |  2024-EE-53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334000" y="6502921"/>
            <a:ext cx="76200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2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1A1A2E"/>
                </a:solidFill>
                <a:latin typeface="Aptos"/>
                <a:ea typeface="Aptos"/>
                <a:cs typeface="Aptos"/>
                <a:sym typeface="Aptos"/>
              </a:rPr>
              <a:t>Hamza Khalid  |  2024-EE-88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334000" y="7026796"/>
            <a:ext cx="76200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2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1A1A2E"/>
                </a:solidFill>
                <a:latin typeface="Aptos"/>
                <a:ea typeface="Aptos"/>
                <a:cs typeface="Aptos"/>
                <a:sym typeface="Aptos"/>
              </a:rPr>
              <a:t>Abdul Rafay  |  2024-EE-91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0" y="10134600"/>
            <a:ext cx="18288000" cy="152400"/>
            <a:chOff x="0" y="0"/>
            <a:chExt cx="24384000" cy="203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384000" cy="203200"/>
            </a:xfrm>
            <a:custGeom>
              <a:avLst/>
              <a:gdLst/>
              <a:ahLst/>
              <a:cxnLst/>
              <a:rect r="r" b="b" t="t" l="l"/>
              <a:pathLst>
                <a:path h="203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4A90D9"/>
            </a:solid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52400"/>
            <a:chOff x="0" y="0"/>
            <a:chExt cx="24384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03200"/>
            </a:xfrm>
            <a:custGeom>
              <a:avLst/>
              <a:gdLst/>
              <a:ahLst/>
              <a:cxnLst/>
              <a:rect r="r" b="b" t="t" l="l"/>
              <a:pathLst>
                <a:path h="203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4A90D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18288000" cy="152400"/>
            <a:chOff x="0" y="0"/>
            <a:chExt cx="24384000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203200"/>
            </a:xfrm>
            <a:custGeom>
              <a:avLst/>
              <a:gdLst/>
              <a:ahLst/>
              <a:cxnLst/>
              <a:rect r="r" b="b" t="t" l="l"/>
              <a:pathLst>
                <a:path h="203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4A90D9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476500" y="942975"/>
            <a:ext cx="1333500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00"/>
              </a:lnSpc>
              <a:spcBef>
                <a:spcPct val="0"/>
              </a:spcBef>
            </a:pPr>
            <a:r>
              <a:rPr lang="en-US" b="true" sz="6000" strike="noStrike" u="none">
                <a:solidFill>
                  <a:srgbClr val="1A1A2E"/>
                </a:solidFill>
                <a:latin typeface="Aptos Bold"/>
                <a:ea typeface="Aptos Bold"/>
                <a:cs typeface="Aptos Bold"/>
                <a:sym typeface="Aptos Bold"/>
              </a:rPr>
              <a:t>Outline</a:t>
            </a:r>
          </a:p>
        </p:txBody>
      </p:sp>
      <p:sp>
        <p:nvSpPr>
          <p:cNvPr name="AutoShape 7" id="7"/>
          <p:cNvSpPr/>
          <p:nvPr/>
        </p:nvSpPr>
        <p:spPr>
          <a:xfrm>
            <a:off x="7239000" y="1809750"/>
            <a:ext cx="3810000" cy="0"/>
          </a:xfrm>
          <a:prstGeom prst="line">
            <a:avLst/>
          </a:prstGeom>
          <a:ln cap="rnd" w="28575">
            <a:solidFill>
              <a:srgbClr val="4A90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5334000" y="2486025"/>
            <a:ext cx="762000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3200" strike="noStrike" u="none">
                <a:solidFill>
                  <a:srgbClr val="1A1A2E"/>
                </a:solidFill>
                <a:latin typeface="Aptos"/>
                <a:ea typeface="Aptos"/>
                <a:cs typeface="Aptos"/>
                <a:sym typeface="Aptos"/>
              </a:rPr>
              <a:t>Introduction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334000" y="3200400"/>
            <a:ext cx="762000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3200" strike="noStrike" u="none">
                <a:solidFill>
                  <a:srgbClr val="1A1A2E"/>
                </a:solidFill>
                <a:latin typeface="Aptos"/>
                <a:ea typeface="Aptos"/>
                <a:cs typeface="Aptos"/>
                <a:sym typeface="Aptos"/>
              </a:rPr>
              <a:t>Design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334000" y="3914775"/>
            <a:ext cx="762000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3200" strike="noStrike" u="none">
                <a:solidFill>
                  <a:srgbClr val="1A1A2E"/>
                </a:solidFill>
                <a:latin typeface="Aptos"/>
                <a:ea typeface="Aptos"/>
                <a:cs typeface="Aptos"/>
                <a:sym typeface="Aptos"/>
              </a:rPr>
              <a:t>Implementation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334000" y="4629150"/>
            <a:ext cx="762000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3200" strike="noStrike" u="none">
                <a:solidFill>
                  <a:srgbClr val="1A1A2E"/>
                </a:solidFill>
                <a:latin typeface="Aptos"/>
                <a:ea typeface="Aptos"/>
                <a:cs typeface="Aptos"/>
                <a:sym typeface="Aptos"/>
              </a:rPr>
              <a:t>Results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334000" y="5343525"/>
            <a:ext cx="762000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3200" strike="noStrike" u="none">
                <a:solidFill>
                  <a:srgbClr val="1A1A2E"/>
                </a:solidFill>
                <a:latin typeface="Aptos"/>
                <a:ea typeface="Aptos"/>
                <a:cs typeface="Aptos"/>
                <a:sym typeface="Aptos"/>
              </a:rPr>
              <a:t>FPGA Demo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334000" y="6057900"/>
            <a:ext cx="762000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3200" strike="noStrike" u="none">
                <a:solidFill>
                  <a:srgbClr val="1A1A2E"/>
                </a:solidFill>
                <a:latin typeface="Aptos"/>
                <a:ea typeface="Aptos"/>
                <a:cs typeface="Aptos"/>
                <a:sym typeface="Aptos"/>
              </a:rPr>
              <a:t>Conclusion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334000" y="6772275"/>
            <a:ext cx="762000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3200" strike="noStrike" u="none">
                <a:solidFill>
                  <a:srgbClr val="1A1A2E"/>
                </a:solidFill>
                <a:latin typeface="Aptos"/>
                <a:ea typeface="Aptos"/>
                <a:cs typeface="Aptos"/>
                <a:sym typeface="Aptos"/>
              </a:rPr>
              <a:t>Q&amp;A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049750" y="9715500"/>
            <a:ext cx="571500" cy="187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40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52400"/>
            <a:chOff x="0" y="0"/>
            <a:chExt cx="24384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03200"/>
            </a:xfrm>
            <a:custGeom>
              <a:avLst/>
              <a:gdLst/>
              <a:ahLst/>
              <a:cxnLst/>
              <a:rect r="r" b="b" t="t" l="l"/>
              <a:pathLst>
                <a:path h="203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4A90D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18288000" cy="152400"/>
            <a:chOff x="0" y="0"/>
            <a:chExt cx="24384000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203200"/>
            </a:xfrm>
            <a:custGeom>
              <a:avLst/>
              <a:gdLst/>
              <a:ahLst/>
              <a:cxnLst/>
              <a:rect r="r" b="b" t="t" l="l"/>
              <a:pathLst>
                <a:path h="203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4A90D9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476500" y="952500"/>
            <a:ext cx="13335000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72"/>
              </a:lnSpc>
              <a:spcBef>
                <a:spcPct val="0"/>
              </a:spcBef>
            </a:pPr>
            <a:r>
              <a:rPr lang="en-US" b="true" sz="6060" strike="noStrike" u="none">
                <a:solidFill>
                  <a:srgbClr val="1A1A2E"/>
                </a:solidFill>
                <a:latin typeface="Aptos Bold"/>
                <a:ea typeface="Aptos Bold"/>
                <a:cs typeface="Aptos Bold"/>
                <a:sym typeface="Aptos Bold"/>
              </a:rPr>
              <a:t>Introduction</a:t>
            </a:r>
          </a:p>
        </p:txBody>
      </p:sp>
      <p:sp>
        <p:nvSpPr>
          <p:cNvPr name="AutoShape 7" id="7"/>
          <p:cNvSpPr/>
          <p:nvPr/>
        </p:nvSpPr>
        <p:spPr>
          <a:xfrm>
            <a:off x="7239000" y="1866900"/>
            <a:ext cx="3810000" cy="0"/>
          </a:xfrm>
          <a:prstGeom prst="line">
            <a:avLst/>
          </a:prstGeom>
          <a:ln cap="rnd" w="28575">
            <a:solidFill>
              <a:srgbClr val="4A90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905000" y="2681288"/>
            <a:ext cx="76200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b="true" sz="2600" strike="noStrike" u="none">
                <a:solidFill>
                  <a:srgbClr val="4A90D9"/>
                </a:solidFill>
                <a:latin typeface="Aptos Bold"/>
                <a:ea typeface="Aptos Bold"/>
                <a:cs typeface="Aptos Bold"/>
                <a:sym typeface="Aptos Bold"/>
              </a:rPr>
              <a:t>Problem Statement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05000" y="3079115"/>
            <a:ext cx="14478000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333333"/>
                </a:solidFill>
                <a:latin typeface="Aptos"/>
                <a:ea typeface="Aptos"/>
                <a:cs typeface="Aptos"/>
                <a:sym typeface="Aptos"/>
              </a:rPr>
              <a:t>Design a system that allows a PC to communicate with FPGA memory through UART.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05000" y="4205288"/>
            <a:ext cx="76200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b="true" sz="2600" strike="noStrike" u="none">
                <a:solidFill>
                  <a:srgbClr val="4A90D9"/>
                </a:solidFill>
                <a:latin typeface="Aptos Bold"/>
                <a:ea typeface="Aptos Bold"/>
                <a:cs typeface="Aptos Bold"/>
                <a:sym typeface="Aptos Bold"/>
              </a:rPr>
              <a:t>Objectives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286000" y="4698365"/>
            <a:ext cx="14097000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1A1A2E"/>
                </a:solidFill>
                <a:latin typeface="Aptos"/>
                <a:ea typeface="Aptos"/>
                <a:cs typeface="Aptos"/>
                <a:sym typeface="Aptos"/>
              </a:rPr>
              <a:t>•  Receive commands from PC using UART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286000" y="5222240"/>
            <a:ext cx="14097000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1A1A2E"/>
                </a:solidFill>
                <a:latin typeface="Aptos"/>
                <a:ea typeface="Aptos"/>
                <a:cs typeface="Aptos"/>
                <a:sym typeface="Aptos"/>
              </a:rPr>
              <a:t>•  Buffer incoming and outgoing data using FIFOs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286000" y="5746115"/>
            <a:ext cx="14097000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1A1A2E"/>
                </a:solidFill>
                <a:latin typeface="Aptos"/>
                <a:ea typeface="Aptos"/>
                <a:cs typeface="Aptos"/>
                <a:sym typeface="Aptos"/>
              </a:rPr>
              <a:t>•  Perform memory read/write operations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286000" y="6269990"/>
            <a:ext cx="14097000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1A1A2E"/>
                </a:solidFill>
                <a:latin typeface="Aptos"/>
                <a:ea typeface="Aptos"/>
                <a:cs typeface="Aptos"/>
                <a:sym typeface="Aptos"/>
              </a:rPr>
              <a:t>•  Return responses to PC through UART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286000" y="6793865"/>
            <a:ext cx="14097000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1A1A2E"/>
                </a:solidFill>
                <a:latin typeface="Aptos"/>
                <a:ea typeface="Aptos"/>
                <a:cs typeface="Aptos"/>
                <a:sym typeface="Aptos"/>
              </a:rPr>
              <a:t>•  Validate functionality on Nexys A7 FPGA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049750" y="9715500"/>
            <a:ext cx="571500" cy="187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40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52400"/>
            <a:chOff x="0" y="0"/>
            <a:chExt cx="24384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03200"/>
            </a:xfrm>
            <a:custGeom>
              <a:avLst/>
              <a:gdLst/>
              <a:ahLst/>
              <a:cxnLst/>
              <a:rect r="r" b="b" t="t" l="l"/>
              <a:pathLst>
                <a:path h="203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4A90D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18288000" cy="152400"/>
            <a:chOff x="0" y="0"/>
            <a:chExt cx="24384000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203200"/>
            </a:xfrm>
            <a:custGeom>
              <a:avLst/>
              <a:gdLst/>
              <a:ahLst/>
              <a:cxnLst/>
              <a:rect r="r" b="b" t="t" l="l"/>
              <a:pathLst>
                <a:path h="203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4A90D9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476500" y="952500"/>
            <a:ext cx="13335000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72"/>
              </a:lnSpc>
              <a:spcBef>
                <a:spcPct val="0"/>
              </a:spcBef>
            </a:pPr>
            <a:r>
              <a:rPr lang="en-US" b="true" sz="6060" strike="noStrike" u="none">
                <a:solidFill>
                  <a:srgbClr val="1A1A2E"/>
                </a:solidFill>
                <a:latin typeface="Aptos Bold"/>
                <a:ea typeface="Aptos Bold"/>
                <a:cs typeface="Aptos Bold"/>
                <a:sym typeface="Aptos Bold"/>
              </a:rPr>
              <a:t>Design - FIFO</a:t>
            </a:r>
          </a:p>
        </p:txBody>
      </p:sp>
      <p:sp>
        <p:nvSpPr>
          <p:cNvPr name="AutoShape 7" id="7"/>
          <p:cNvSpPr/>
          <p:nvPr/>
        </p:nvSpPr>
        <p:spPr>
          <a:xfrm>
            <a:off x="7239000" y="1866900"/>
            <a:ext cx="3810000" cy="0"/>
          </a:xfrm>
          <a:prstGeom prst="line">
            <a:avLst/>
          </a:prstGeom>
          <a:ln cap="rnd" w="28575">
            <a:solidFill>
              <a:srgbClr val="4A90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2767550"/>
            <a:ext cx="7958853" cy="5471712"/>
          </a:xfrm>
          <a:custGeom>
            <a:avLst/>
            <a:gdLst/>
            <a:ahLst/>
            <a:cxnLst/>
            <a:rect r="r" b="b" t="t" l="l"/>
            <a:pathLst>
              <a:path h="5471712" w="7958853">
                <a:moveTo>
                  <a:pt x="0" y="0"/>
                </a:moveTo>
                <a:lnTo>
                  <a:pt x="7958853" y="0"/>
                </a:lnTo>
                <a:lnTo>
                  <a:pt x="7958853" y="5471712"/>
                </a:lnTo>
                <a:lnTo>
                  <a:pt x="0" y="54717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001250" y="3348038"/>
            <a:ext cx="66675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b="true" sz="2600" strike="noStrike" u="none">
                <a:solidFill>
                  <a:srgbClr val="4A90D9"/>
                </a:solidFill>
                <a:latin typeface="Aptos Bold"/>
                <a:ea typeface="Aptos Bold"/>
                <a:cs typeface="Aptos Bold"/>
                <a:sym typeface="Aptos Bold"/>
              </a:rPr>
              <a:t>Features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001250" y="3938131"/>
            <a:ext cx="7143750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1A1A2E"/>
                </a:solidFill>
                <a:latin typeface="Aptos"/>
                <a:ea typeface="Aptos"/>
                <a:cs typeface="Aptos"/>
                <a:sym typeface="Aptos"/>
              </a:rPr>
              <a:t>•  Ignores read when empty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001250" y="4509631"/>
            <a:ext cx="7143750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1A1A2E"/>
                </a:solidFill>
                <a:latin typeface="Aptos"/>
                <a:ea typeface="Aptos"/>
                <a:cs typeface="Aptos"/>
                <a:sym typeface="Aptos"/>
              </a:rPr>
              <a:t>•  Ignores write when full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001250" y="5081131"/>
            <a:ext cx="7143750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1A1A2E"/>
                </a:solidFill>
                <a:latin typeface="Aptos"/>
                <a:ea typeface="Aptos"/>
                <a:cs typeface="Aptos"/>
                <a:sym typeface="Aptos"/>
              </a:rPr>
              <a:t>•  Supports simultaneous read and write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001250" y="5652631"/>
            <a:ext cx="7143750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1A1A2E"/>
                </a:solidFill>
                <a:latin typeface="Aptos"/>
                <a:ea typeface="Aptos"/>
                <a:cs typeface="Aptos"/>
                <a:sym typeface="Aptos"/>
              </a:rPr>
              <a:t>•  Uses a RAM module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001250" y="6224131"/>
            <a:ext cx="7143750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1A1A2E"/>
                </a:solidFill>
                <a:latin typeface="Aptos"/>
                <a:ea typeface="Aptos"/>
                <a:cs typeface="Aptos"/>
                <a:sym typeface="Aptos"/>
              </a:rPr>
              <a:t>•  Fully Synchronous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001250" y="6795631"/>
            <a:ext cx="7143750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1A1A2E"/>
                </a:solidFill>
                <a:latin typeface="Aptos"/>
                <a:ea typeface="Aptos"/>
                <a:cs typeface="Aptos"/>
                <a:sym typeface="Aptos"/>
              </a:rPr>
              <a:t>•  Parameterized with WIDTH and DEPTH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049750" y="9715500"/>
            <a:ext cx="571500" cy="187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40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52400"/>
            <a:chOff x="0" y="0"/>
            <a:chExt cx="24384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03200"/>
            </a:xfrm>
            <a:custGeom>
              <a:avLst/>
              <a:gdLst/>
              <a:ahLst/>
              <a:cxnLst/>
              <a:rect r="r" b="b" t="t" l="l"/>
              <a:pathLst>
                <a:path h="203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4A90D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18288000" cy="152400"/>
            <a:chOff x="0" y="0"/>
            <a:chExt cx="24384000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203200"/>
            </a:xfrm>
            <a:custGeom>
              <a:avLst/>
              <a:gdLst/>
              <a:ahLst/>
              <a:cxnLst/>
              <a:rect r="r" b="b" t="t" l="l"/>
              <a:pathLst>
                <a:path h="203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4A90D9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476500" y="952500"/>
            <a:ext cx="13335000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72"/>
              </a:lnSpc>
              <a:spcBef>
                <a:spcPct val="0"/>
              </a:spcBef>
            </a:pPr>
            <a:r>
              <a:rPr lang="en-US" b="true" sz="6060" strike="noStrike" u="none">
                <a:solidFill>
                  <a:srgbClr val="1A1A2E"/>
                </a:solidFill>
                <a:latin typeface="Aptos Bold"/>
                <a:ea typeface="Aptos Bold"/>
                <a:cs typeface="Aptos Bold"/>
                <a:sym typeface="Aptos Bold"/>
              </a:rPr>
              <a:t>Design - UART</a:t>
            </a:r>
          </a:p>
        </p:txBody>
      </p:sp>
      <p:sp>
        <p:nvSpPr>
          <p:cNvPr name="AutoShape 7" id="7"/>
          <p:cNvSpPr/>
          <p:nvPr/>
        </p:nvSpPr>
        <p:spPr>
          <a:xfrm>
            <a:off x="7239000" y="1866900"/>
            <a:ext cx="3810000" cy="0"/>
          </a:xfrm>
          <a:prstGeom prst="line">
            <a:avLst/>
          </a:prstGeom>
          <a:ln cap="rnd" w="28575">
            <a:solidFill>
              <a:srgbClr val="4A90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9144000" y="2986088"/>
            <a:ext cx="8514440" cy="4458152"/>
          </a:xfrm>
          <a:custGeom>
            <a:avLst/>
            <a:gdLst/>
            <a:ahLst/>
            <a:cxnLst/>
            <a:rect r="r" b="b" t="t" l="l"/>
            <a:pathLst>
              <a:path h="4458152" w="8514440">
                <a:moveTo>
                  <a:pt x="0" y="0"/>
                </a:moveTo>
                <a:lnTo>
                  <a:pt x="8514440" y="0"/>
                </a:lnTo>
                <a:lnTo>
                  <a:pt x="8514440" y="4458151"/>
                </a:lnTo>
                <a:lnTo>
                  <a:pt x="0" y="44581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137" r="0" b="-4137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286000" y="2790825"/>
            <a:ext cx="76200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b="true" sz="2600" strike="noStrike" u="none">
                <a:solidFill>
                  <a:srgbClr val="4A90D9"/>
                </a:solidFill>
                <a:latin typeface="Aptos Bold"/>
                <a:ea typeface="Aptos Bold"/>
                <a:cs typeface="Aptos Bold"/>
                <a:sym typeface="Aptos Bold"/>
              </a:rPr>
              <a:t>Features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286000" y="3494703"/>
            <a:ext cx="7620000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1A1A2E"/>
                </a:solidFill>
                <a:latin typeface="Aptos"/>
                <a:ea typeface="Aptos"/>
                <a:cs typeface="Aptos"/>
                <a:sym typeface="Aptos"/>
              </a:rPr>
              <a:t>•  Baud Rate: 115200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286000" y="4132878"/>
            <a:ext cx="7620000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1A1A2E"/>
                </a:solidFill>
                <a:latin typeface="Aptos"/>
                <a:ea typeface="Aptos"/>
                <a:cs typeface="Aptos"/>
                <a:sym typeface="Aptos"/>
              </a:rPr>
              <a:t>•  Two-wire interface: TX and RX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286000" y="4771053"/>
            <a:ext cx="7620000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1A1A2E"/>
                </a:solidFill>
                <a:latin typeface="Aptos"/>
                <a:ea typeface="Aptos"/>
                <a:cs typeface="Aptos"/>
                <a:sym typeface="Aptos"/>
              </a:rPr>
              <a:t>•  Frame: 1 start bit, 8 data bits, 1 stop bit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286000" y="5409228"/>
            <a:ext cx="7620000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1A1A2E"/>
                </a:solidFill>
                <a:latin typeface="Aptos"/>
                <a:ea typeface="Aptos"/>
                <a:cs typeface="Aptos"/>
                <a:sym typeface="Aptos"/>
              </a:rPr>
              <a:t>•  Used for FPGA-to-PC communication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286000" y="6052122"/>
            <a:ext cx="7620000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1A1A2E"/>
                </a:solidFill>
                <a:latin typeface="Aptos"/>
                <a:ea typeface="Aptos"/>
                <a:cs typeface="Aptos"/>
                <a:sym typeface="Aptos"/>
              </a:rPr>
              <a:t>•  Uses Ready/Valid handshaking interface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049750" y="9715500"/>
            <a:ext cx="571500" cy="187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40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52400"/>
            <a:chOff x="0" y="0"/>
            <a:chExt cx="24384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03200"/>
            </a:xfrm>
            <a:custGeom>
              <a:avLst/>
              <a:gdLst/>
              <a:ahLst/>
              <a:cxnLst/>
              <a:rect r="r" b="b" t="t" l="l"/>
              <a:pathLst>
                <a:path h="203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4A90D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18288000" cy="152400"/>
            <a:chOff x="0" y="0"/>
            <a:chExt cx="24384000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203200"/>
            </a:xfrm>
            <a:custGeom>
              <a:avLst/>
              <a:gdLst/>
              <a:ahLst/>
              <a:cxnLst/>
              <a:rect r="r" b="b" t="t" l="l"/>
              <a:pathLst>
                <a:path h="203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4A90D9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476500" y="952500"/>
            <a:ext cx="13335000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72"/>
              </a:lnSpc>
              <a:spcBef>
                <a:spcPct val="0"/>
              </a:spcBef>
            </a:pPr>
            <a:r>
              <a:rPr lang="en-US" b="true" sz="6060" strike="noStrike" u="none">
                <a:solidFill>
                  <a:srgbClr val="1A1A2E"/>
                </a:solidFill>
                <a:latin typeface="Aptos Bold"/>
                <a:ea typeface="Aptos Bold"/>
                <a:cs typeface="Aptos Bold"/>
                <a:sym typeface="Aptos Bold"/>
              </a:rPr>
              <a:t>UART Transmitter</a:t>
            </a:r>
          </a:p>
        </p:txBody>
      </p:sp>
      <p:sp>
        <p:nvSpPr>
          <p:cNvPr name="AutoShape 7" id="7"/>
          <p:cNvSpPr/>
          <p:nvPr/>
        </p:nvSpPr>
        <p:spPr>
          <a:xfrm>
            <a:off x="7239000" y="1866900"/>
            <a:ext cx="3810000" cy="0"/>
          </a:xfrm>
          <a:prstGeom prst="line">
            <a:avLst/>
          </a:prstGeom>
          <a:ln cap="rnd" w="28575">
            <a:solidFill>
              <a:srgbClr val="4A90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3342782" y="5069435"/>
            <a:ext cx="11602435" cy="4022178"/>
          </a:xfrm>
          <a:custGeom>
            <a:avLst/>
            <a:gdLst/>
            <a:ahLst/>
            <a:cxnLst/>
            <a:rect r="r" b="b" t="t" l="l"/>
            <a:pathLst>
              <a:path h="4022178" w="11602435">
                <a:moveTo>
                  <a:pt x="0" y="0"/>
                </a:moveTo>
                <a:lnTo>
                  <a:pt x="11602436" y="0"/>
                </a:lnTo>
                <a:lnTo>
                  <a:pt x="11602436" y="4022177"/>
                </a:lnTo>
                <a:lnTo>
                  <a:pt x="0" y="40221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286000" y="2412365"/>
            <a:ext cx="8864293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sz="2599" strike="noStrike" u="none">
                <a:solidFill>
                  <a:srgbClr val="1A1A2E"/>
                </a:solidFill>
                <a:latin typeface="Aptos"/>
                <a:ea typeface="Aptos"/>
                <a:cs typeface="Aptos"/>
                <a:sym typeface="Aptos"/>
              </a:rPr>
              <a:t>•  Serializes 8-bit parallel data into a serial bitstream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286000" y="2940050"/>
            <a:ext cx="9457999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sz="2599" strike="noStrike" u="none">
                <a:solidFill>
                  <a:srgbClr val="1A1A2E"/>
                </a:solidFill>
                <a:latin typeface="Aptos"/>
                <a:ea typeface="Aptos"/>
                <a:cs typeface="Aptos"/>
                <a:sym typeface="Aptos"/>
              </a:rPr>
              <a:t>•  Packet: 1 Start bit (low) + 8 Data bits (LSB first) + 1 Stop bit (high)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286000" y="3460115"/>
            <a:ext cx="8864293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sz="2599" strike="noStrike" u="none">
                <a:solidFill>
                  <a:srgbClr val="1A1A2E"/>
                </a:solidFill>
                <a:latin typeface="Aptos"/>
                <a:ea typeface="Aptos"/>
                <a:cs typeface="Aptos"/>
                <a:sym typeface="Aptos"/>
              </a:rPr>
              <a:t>•  Controlled by an FSM (Idle, Trasmit States)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286000" y="3983990"/>
            <a:ext cx="8864293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sz="2599" strike="noStrike" u="none">
                <a:solidFill>
                  <a:srgbClr val="1A1A2E"/>
                </a:solidFill>
                <a:latin typeface="Aptos"/>
                <a:ea typeface="Aptos"/>
                <a:cs typeface="Aptos"/>
                <a:sym typeface="Aptos"/>
              </a:rPr>
              <a:t>•  Shift register outputs one bit per baud period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286000" y="4507865"/>
            <a:ext cx="8864293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sz="2599" strike="noStrike" u="none">
                <a:solidFill>
                  <a:srgbClr val="1A1A2E"/>
                </a:solidFill>
                <a:latin typeface="Aptos"/>
                <a:ea typeface="Aptos"/>
                <a:cs typeface="Aptos"/>
                <a:sym typeface="Aptos"/>
              </a:rPr>
              <a:t>•  Asserts data_in_ready when idle and ready for new data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286500" y="9205912"/>
            <a:ext cx="57150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19"/>
              </a:lnSpc>
              <a:spcBef>
                <a:spcPct val="0"/>
              </a:spcBef>
            </a:pPr>
            <a:r>
              <a:rPr lang="en-US" b="true" sz="2599" strike="noStrike" u="none">
                <a:solidFill>
                  <a:srgbClr val="1A1A2E"/>
                </a:solidFill>
                <a:latin typeface="Aptos Bold"/>
                <a:ea typeface="Aptos Bold"/>
                <a:cs typeface="Aptos Bold"/>
                <a:sym typeface="Aptos Bold"/>
              </a:rPr>
              <a:t>UART Packet Framing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049750" y="9715500"/>
            <a:ext cx="571500" cy="187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40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52400"/>
            <a:chOff x="0" y="0"/>
            <a:chExt cx="24384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03200"/>
            </a:xfrm>
            <a:custGeom>
              <a:avLst/>
              <a:gdLst/>
              <a:ahLst/>
              <a:cxnLst/>
              <a:rect r="r" b="b" t="t" l="l"/>
              <a:pathLst>
                <a:path h="203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4A90D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18288000" cy="152400"/>
            <a:chOff x="0" y="0"/>
            <a:chExt cx="24384000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203200"/>
            </a:xfrm>
            <a:custGeom>
              <a:avLst/>
              <a:gdLst/>
              <a:ahLst/>
              <a:cxnLst/>
              <a:rect r="r" b="b" t="t" l="l"/>
              <a:pathLst>
                <a:path h="203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4A90D9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0" y="1484124"/>
            <a:ext cx="13233775" cy="6747432"/>
          </a:xfrm>
          <a:custGeom>
            <a:avLst/>
            <a:gdLst/>
            <a:ahLst/>
            <a:cxnLst/>
            <a:rect r="r" b="b" t="t" l="l"/>
            <a:pathLst>
              <a:path h="6747432" w="13233775">
                <a:moveTo>
                  <a:pt x="0" y="0"/>
                </a:moveTo>
                <a:lnTo>
                  <a:pt x="13233775" y="0"/>
                </a:lnTo>
                <a:lnTo>
                  <a:pt x="13233775" y="6747432"/>
                </a:lnTo>
                <a:lnTo>
                  <a:pt x="0" y="67474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686" r="0" b="-4938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055261" y="1707676"/>
            <a:ext cx="5055278" cy="5995795"/>
          </a:xfrm>
          <a:custGeom>
            <a:avLst/>
            <a:gdLst/>
            <a:ahLst/>
            <a:cxnLst/>
            <a:rect r="r" b="b" t="t" l="l"/>
            <a:pathLst>
              <a:path h="5995795" w="5055278">
                <a:moveTo>
                  <a:pt x="0" y="0"/>
                </a:moveTo>
                <a:lnTo>
                  <a:pt x="5055278" y="0"/>
                </a:lnTo>
                <a:lnTo>
                  <a:pt x="5055278" y="5995795"/>
                </a:lnTo>
                <a:lnTo>
                  <a:pt x="0" y="59957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3348039" y="7971865"/>
            <a:ext cx="4762500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19"/>
              </a:lnSpc>
              <a:spcBef>
                <a:spcPct val="0"/>
              </a:spcBef>
            </a:pPr>
            <a:r>
              <a:rPr lang="en-US" b="true" sz="2599" strike="noStrike" u="none">
                <a:solidFill>
                  <a:srgbClr val="1A1A2E"/>
                </a:solidFill>
                <a:latin typeface="Aptos Bold"/>
                <a:ea typeface="Aptos Bold"/>
                <a:cs typeface="Aptos Bold"/>
                <a:sym typeface="Aptos Bold"/>
              </a:rPr>
              <a:t>State Transition Diagram</a:t>
            </a:r>
          </a:p>
          <a:p>
            <a:pPr algn="ctr" marL="0" indent="0" lvl="0">
              <a:lnSpc>
                <a:spcPts val="3119"/>
              </a:lnSpc>
              <a:spcBef>
                <a:spcPct val="0"/>
              </a:spcBef>
            </a:pPr>
            <a:r>
              <a:rPr lang="en-US" b="true" sz="2599" strike="noStrike" u="none">
                <a:solidFill>
                  <a:srgbClr val="1A1A2E"/>
                </a:solidFill>
                <a:latin typeface="Aptos Bold"/>
                <a:ea typeface="Aptos Bold"/>
                <a:cs typeface="Aptos Bold"/>
                <a:sym typeface="Aptos Bold"/>
              </a:rPr>
              <a:t>of the Controller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427099" y="8036294"/>
            <a:ext cx="76200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19"/>
              </a:lnSpc>
              <a:spcBef>
                <a:spcPct val="0"/>
              </a:spcBef>
            </a:pPr>
            <a:r>
              <a:rPr lang="en-US" b="true" sz="2599" strike="noStrike" u="none">
                <a:solidFill>
                  <a:srgbClr val="1A1A2E"/>
                </a:solidFill>
                <a:latin typeface="Aptos Bold"/>
                <a:ea typeface="Aptos Bold"/>
                <a:cs typeface="Aptos Bold"/>
                <a:sym typeface="Aptos Bold"/>
              </a:rPr>
              <a:t>Block Diagram of UART Transmitter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335500" y="9715500"/>
            <a:ext cx="571500" cy="187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40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52400"/>
            <a:chOff x="0" y="0"/>
            <a:chExt cx="24384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03200"/>
            </a:xfrm>
            <a:custGeom>
              <a:avLst/>
              <a:gdLst/>
              <a:ahLst/>
              <a:cxnLst/>
              <a:rect r="r" b="b" t="t" l="l"/>
              <a:pathLst>
                <a:path h="203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4A90D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18288000" cy="152400"/>
            <a:chOff x="0" y="0"/>
            <a:chExt cx="24384000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203200"/>
            </a:xfrm>
            <a:custGeom>
              <a:avLst/>
              <a:gdLst/>
              <a:ahLst/>
              <a:cxnLst/>
              <a:rect r="r" b="b" t="t" l="l"/>
              <a:pathLst>
                <a:path h="203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4A90D9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505075" y="962025"/>
            <a:ext cx="13335000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72"/>
              </a:lnSpc>
              <a:spcBef>
                <a:spcPct val="0"/>
              </a:spcBef>
            </a:pPr>
            <a:r>
              <a:rPr lang="en-US" b="true" sz="6060">
                <a:solidFill>
                  <a:srgbClr val="1A1A2E"/>
                </a:solidFill>
                <a:latin typeface="Aptos Bold"/>
                <a:ea typeface="Aptos Bold"/>
                <a:cs typeface="Aptos Bold"/>
                <a:sym typeface="Aptos Bold"/>
              </a:rPr>
              <a:t>Design - </a:t>
            </a:r>
            <a:r>
              <a:rPr lang="en-US" b="true" sz="6060" strike="noStrike" u="none">
                <a:solidFill>
                  <a:srgbClr val="1A1A2E"/>
                </a:solidFill>
                <a:latin typeface="Aptos Bold"/>
                <a:ea typeface="Aptos Bold"/>
                <a:cs typeface="Aptos Bold"/>
                <a:sym typeface="Aptos Bold"/>
              </a:rPr>
              <a:t>Memory Controller</a:t>
            </a:r>
          </a:p>
        </p:txBody>
      </p:sp>
      <p:sp>
        <p:nvSpPr>
          <p:cNvPr name="AutoShape 7" id="7"/>
          <p:cNvSpPr/>
          <p:nvPr/>
        </p:nvSpPr>
        <p:spPr>
          <a:xfrm>
            <a:off x="5894049" y="1876425"/>
            <a:ext cx="5781613" cy="0"/>
          </a:xfrm>
          <a:prstGeom prst="line">
            <a:avLst/>
          </a:prstGeom>
          <a:ln cap="rnd" w="28575">
            <a:solidFill>
              <a:srgbClr val="4A90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2505075" y="4119562"/>
            <a:ext cx="13306425" cy="2445056"/>
          </a:xfrm>
          <a:custGeom>
            <a:avLst/>
            <a:gdLst/>
            <a:ahLst/>
            <a:cxnLst/>
            <a:rect r="r" b="b" t="t" l="l"/>
            <a:pathLst>
              <a:path h="2445056" w="13306425">
                <a:moveTo>
                  <a:pt x="0" y="0"/>
                </a:moveTo>
                <a:lnTo>
                  <a:pt x="13306425" y="0"/>
                </a:lnTo>
                <a:lnTo>
                  <a:pt x="13306425" y="2445056"/>
                </a:lnTo>
                <a:lnTo>
                  <a:pt x="0" y="24450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848225" y="6691312"/>
            <a:ext cx="8582025" cy="2697905"/>
          </a:xfrm>
          <a:custGeom>
            <a:avLst/>
            <a:gdLst/>
            <a:ahLst/>
            <a:cxnLst/>
            <a:rect r="r" b="b" t="t" l="l"/>
            <a:pathLst>
              <a:path h="2697905" w="8582025">
                <a:moveTo>
                  <a:pt x="0" y="0"/>
                </a:moveTo>
                <a:lnTo>
                  <a:pt x="8582025" y="0"/>
                </a:lnTo>
                <a:lnTo>
                  <a:pt x="8582025" y="2697906"/>
                </a:lnTo>
                <a:lnTo>
                  <a:pt x="0" y="26979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276475" y="2355215"/>
            <a:ext cx="13335000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sz="2599" strike="noStrike" u="none">
                <a:solidFill>
                  <a:srgbClr val="1A1A2E"/>
                </a:solidFill>
                <a:latin typeface="Aptos"/>
                <a:ea typeface="Aptos"/>
                <a:cs typeface="Aptos"/>
                <a:sym typeface="Aptos"/>
              </a:rPr>
              <a:t>•  Handles memory reads and writes based on commands from the host PC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276475" y="2879090"/>
            <a:ext cx="13335000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sz="2599" strike="noStrike" u="none">
                <a:solidFill>
                  <a:srgbClr val="1A1A2E"/>
                </a:solidFill>
                <a:latin typeface="Aptos"/>
                <a:ea typeface="Aptos"/>
                <a:cs typeface="Aptos"/>
                <a:sym typeface="Aptos"/>
              </a:rPr>
              <a:t>•  Host sends a 2-byte packet for Read, 3-byte packet for Write via UART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276475" y="3399155"/>
            <a:ext cx="13335000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sz="2599" strike="noStrike" u="none">
                <a:solidFill>
                  <a:srgbClr val="1A1A2E"/>
                </a:solidFill>
                <a:latin typeface="Aptos"/>
                <a:ea typeface="Aptos"/>
                <a:cs typeface="Aptos"/>
                <a:sym typeface="Aptos"/>
              </a:rPr>
              <a:t>•  Each operation is a multi-cycle process controlled by different states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324475" y="9348788"/>
            <a:ext cx="76200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19"/>
              </a:lnSpc>
              <a:spcBef>
                <a:spcPct val="0"/>
              </a:spcBef>
            </a:pPr>
            <a:r>
              <a:rPr lang="en-US" b="true" sz="2599" strike="noStrike" u="none">
                <a:solidFill>
                  <a:srgbClr val="1A1A2E"/>
                </a:solidFill>
                <a:latin typeface="Aptos Bold"/>
                <a:ea typeface="Aptos Bold"/>
                <a:cs typeface="Aptos Bold"/>
                <a:sym typeface="Aptos Bold"/>
              </a:rPr>
              <a:t>Flow Diagram of Memory Controller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335500" y="9715500"/>
            <a:ext cx="571500" cy="187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40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29791" y="-109538"/>
            <a:ext cx="10164120" cy="9367838"/>
          </a:xfrm>
          <a:custGeom>
            <a:avLst/>
            <a:gdLst/>
            <a:ahLst/>
            <a:cxnLst/>
            <a:rect r="r" b="b" t="t" l="l"/>
            <a:pathLst>
              <a:path h="9367838" w="10164120">
                <a:moveTo>
                  <a:pt x="0" y="0"/>
                </a:moveTo>
                <a:lnTo>
                  <a:pt x="10164120" y="0"/>
                </a:lnTo>
                <a:lnTo>
                  <a:pt x="10164120" y="9367838"/>
                </a:lnTo>
                <a:lnTo>
                  <a:pt x="0" y="93678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934" t="-1633" r="-1537" b="-163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06195" y="9396413"/>
            <a:ext cx="12011312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19"/>
              </a:lnSpc>
              <a:spcBef>
                <a:spcPct val="0"/>
              </a:spcBef>
            </a:pPr>
            <a:r>
              <a:rPr lang="en-US" b="true" sz="2599" strike="noStrike" u="none">
                <a:solidFill>
                  <a:srgbClr val="1A1A2E"/>
                </a:solidFill>
                <a:latin typeface="Aptos Bold"/>
                <a:ea typeface="Aptos Bold"/>
                <a:cs typeface="Aptos Bold"/>
                <a:sym typeface="Aptos Bold"/>
              </a:rPr>
              <a:t>Block Diagram of Memory Controller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0" y="10134600"/>
            <a:ext cx="18288000" cy="152400"/>
            <a:chOff x="0" y="0"/>
            <a:chExt cx="24384000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203200"/>
            </a:xfrm>
            <a:custGeom>
              <a:avLst/>
              <a:gdLst/>
              <a:ahLst/>
              <a:cxnLst/>
              <a:rect r="r" b="b" t="t" l="l"/>
              <a:pathLst>
                <a:path h="203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4A90D9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152400"/>
            <a:chOff x="0" y="0"/>
            <a:chExt cx="24384000" cy="203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203200"/>
            </a:xfrm>
            <a:custGeom>
              <a:avLst/>
              <a:gdLst/>
              <a:ahLst/>
              <a:cxnLst/>
              <a:rect r="r" b="b" t="t" l="l"/>
              <a:pathLst>
                <a:path h="203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4A90D9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7335500" y="9715500"/>
            <a:ext cx="571500" cy="187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40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85362" y="321988"/>
            <a:ext cx="17117276" cy="9581473"/>
          </a:xfrm>
          <a:custGeom>
            <a:avLst/>
            <a:gdLst/>
            <a:ahLst/>
            <a:cxnLst/>
            <a:rect r="r" b="b" t="t" l="l"/>
            <a:pathLst>
              <a:path h="9581473" w="17117276">
                <a:moveTo>
                  <a:pt x="0" y="0"/>
                </a:moveTo>
                <a:lnTo>
                  <a:pt x="17117276" y="0"/>
                </a:lnTo>
                <a:lnTo>
                  <a:pt x="17117276" y="9581472"/>
                </a:lnTo>
                <a:lnTo>
                  <a:pt x="0" y="95814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68" r="0" b="-46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857750" y="9409430"/>
            <a:ext cx="85725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19"/>
              </a:lnSpc>
              <a:spcBef>
                <a:spcPct val="0"/>
              </a:spcBef>
            </a:pPr>
            <a:r>
              <a:rPr lang="en-US" b="true" sz="2599" strike="noStrike" u="none">
                <a:solidFill>
                  <a:srgbClr val="1A1A2E"/>
                </a:solidFill>
                <a:latin typeface="Aptos Bold"/>
                <a:ea typeface="Aptos Bold"/>
                <a:cs typeface="Aptos Bold"/>
                <a:sym typeface="Aptos Bold"/>
              </a:rPr>
              <a:t>State Transition Diagram of Memory Controller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0" y="10134600"/>
            <a:ext cx="18288000" cy="152400"/>
            <a:chOff x="0" y="0"/>
            <a:chExt cx="24384000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203200"/>
            </a:xfrm>
            <a:custGeom>
              <a:avLst/>
              <a:gdLst/>
              <a:ahLst/>
              <a:cxnLst/>
              <a:rect r="r" b="b" t="t" l="l"/>
              <a:pathLst>
                <a:path h="203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4A90D9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152400"/>
            <a:chOff x="0" y="0"/>
            <a:chExt cx="24384000" cy="203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203200"/>
            </a:xfrm>
            <a:custGeom>
              <a:avLst/>
              <a:gdLst/>
              <a:ahLst/>
              <a:cxnLst/>
              <a:rect r="r" b="b" t="t" l="l"/>
              <a:pathLst>
                <a:path h="203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4A90D9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7335500" y="9715500"/>
            <a:ext cx="571500" cy="187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40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52400"/>
            <a:chOff x="0" y="0"/>
            <a:chExt cx="24384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03200"/>
            </a:xfrm>
            <a:custGeom>
              <a:avLst/>
              <a:gdLst/>
              <a:ahLst/>
              <a:cxnLst/>
              <a:rect r="r" b="b" t="t" l="l"/>
              <a:pathLst>
                <a:path h="203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4A90D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18288000" cy="152400"/>
            <a:chOff x="0" y="0"/>
            <a:chExt cx="24384000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203200"/>
            </a:xfrm>
            <a:custGeom>
              <a:avLst/>
              <a:gdLst/>
              <a:ahLst/>
              <a:cxnLst/>
              <a:rect r="r" b="b" t="t" l="l"/>
              <a:pathLst>
                <a:path h="203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4A90D9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476500" y="460514"/>
            <a:ext cx="13335000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72"/>
              </a:lnSpc>
              <a:spcBef>
                <a:spcPct val="0"/>
              </a:spcBef>
            </a:pPr>
            <a:r>
              <a:rPr lang="en-US" b="true" sz="6060" strike="noStrike" u="none">
                <a:solidFill>
                  <a:srgbClr val="1A1A2E"/>
                </a:solidFill>
                <a:latin typeface="Aptos Bold"/>
                <a:ea typeface="Aptos Bold"/>
                <a:cs typeface="Aptos Bold"/>
                <a:sym typeface="Aptos Bold"/>
              </a:rPr>
              <a:t>System Block Diagram</a:t>
            </a:r>
          </a:p>
        </p:txBody>
      </p:sp>
      <p:sp>
        <p:nvSpPr>
          <p:cNvPr name="AutoShape 7" id="7"/>
          <p:cNvSpPr/>
          <p:nvPr/>
        </p:nvSpPr>
        <p:spPr>
          <a:xfrm>
            <a:off x="7239000" y="1374914"/>
            <a:ext cx="3810000" cy="0"/>
          </a:xfrm>
          <a:prstGeom prst="line">
            <a:avLst/>
          </a:prstGeom>
          <a:ln cap="rnd" w="28575">
            <a:solidFill>
              <a:srgbClr val="4A90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2157928" y="338746"/>
            <a:ext cx="13972144" cy="9157710"/>
          </a:xfrm>
          <a:custGeom>
            <a:avLst/>
            <a:gdLst/>
            <a:ahLst/>
            <a:cxnLst/>
            <a:rect r="r" b="b" t="t" l="l"/>
            <a:pathLst>
              <a:path h="9157710" w="13972144">
                <a:moveTo>
                  <a:pt x="0" y="0"/>
                </a:moveTo>
                <a:lnTo>
                  <a:pt x="13972144" y="0"/>
                </a:lnTo>
                <a:lnTo>
                  <a:pt x="13972144" y="9157710"/>
                </a:lnTo>
                <a:lnTo>
                  <a:pt x="0" y="91577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42" t="-8597" r="-684" b="-455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857750" y="9320213"/>
            <a:ext cx="85725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19"/>
              </a:lnSpc>
              <a:spcBef>
                <a:spcPct val="0"/>
              </a:spcBef>
            </a:pPr>
            <a:r>
              <a:rPr lang="en-US" b="true" sz="2599">
                <a:solidFill>
                  <a:srgbClr val="1A1A2E"/>
                </a:solidFill>
                <a:latin typeface="Aptos Bold"/>
                <a:ea typeface="Aptos Bold"/>
                <a:cs typeface="Aptos Bold"/>
                <a:sym typeface="Aptos Bold"/>
              </a:rPr>
              <a:t>Block Diagram of the Complete System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335500" y="9715500"/>
            <a:ext cx="571500" cy="187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40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52400"/>
            <a:chOff x="0" y="0"/>
            <a:chExt cx="24384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03200"/>
            </a:xfrm>
            <a:custGeom>
              <a:avLst/>
              <a:gdLst/>
              <a:ahLst/>
              <a:cxnLst/>
              <a:rect r="r" b="b" t="t" l="l"/>
              <a:pathLst>
                <a:path h="203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4A90D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18288000" cy="152400"/>
            <a:chOff x="0" y="0"/>
            <a:chExt cx="24384000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203200"/>
            </a:xfrm>
            <a:custGeom>
              <a:avLst/>
              <a:gdLst/>
              <a:ahLst/>
              <a:cxnLst/>
              <a:rect r="r" b="b" t="t" l="l"/>
              <a:pathLst>
                <a:path h="203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4A90D9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476500" y="457200"/>
            <a:ext cx="13335000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72"/>
              </a:lnSpc>
              <a:spcBef>
                <a:spcPct val="0"/>
              </a:spcBef>
            </a:pPr>
            <a:r>
              <a:rPr lang="en-US" b="true" sz="6060" strike="noStrike" u="none">
                <a:solidFill>
                  <a:srgbClr val="1A1A2E"/>
                </a:solidFill>
                <a:latin typeface="Aptos Bold"/>
                <a:ea typeface="Aptos Bold"/>
                <a:cs typeface="Aptos Bold"/>
                <a:sym typeface="Aptos Bold"/>
              </a:rPr>
              <a:t>Implementation</a:t>
            </a:r>
          </a:p>
        </p:txBody>
      </p:sp>
      <p:sp>
        <p:nvSpPr>
          <p:cNvPr name="AutoShape 7" id="7"/>
          <p:cNvSpPr/>
          <p:nvPr/>
        </p:nvSpPr>
        <p:spPr>
          <a:xfrm>
            <a:off x="7239000" y="1371600"/>
            <a:ext cx="3810000" cy="0"/>
          </a:xfrm>
          <a:prstGeom prst="line">
            <a:avLst/>
          </a:prstGeom>
          <a:ln cap="rnd" w="28575">
            <a:solidFill>
              <a:srgbClr val="4A90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524000" y="1840865"/>
            <a:ext cx="15240000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sz="2599" strike="noStrike" u="none">
                <a:solidFill>
                  <a:srgbClr val="333333"/>
                </a:solidFill>
                <a:latin typeface="Aptos"/>
                <a:ea typeface="Aptos"/>
                <a:cs typeface="Aptos"/>
                <a:sym typeface="Aptos"/>
              </a:rPr>
              <a:t>The complete system was designed and implemented in </a:t>
            </a:r>
            <a:r>
              <a:rPr lang="en-US" b="true" sz="2599" strike="noStrike" u="none">
                <a:solidFill>
                  <a:srgbClr val="333333"/>
                </a:solidFill>
                <a:latin typeface="Aptos Bold"/>
                <a:ea typeface="Aptos Bold"/>
                <a:cs typeface="Aptos Bold"/>
                <a:sym typeface="Aptos Bold"/>
              </a:rPr>
              <a:t>SystemVerilog</a:t>
            </a:r>
            <a:r>
              <a:rPr lang="en-US" sz="2599" strike="noStrike" u="none">
                <a:solidFill>
                  <a:srgbClr val="333333"/>
                </a:solidFill>
                <a:latin typeface="Aptos"/>
                <a:ea typeface="Aptos"/>
                <a:cs typeface="Aptos"/>
                <a:sym typeface="Aptos"/>
              </a:rPr>
              <a:t>. Below is the module hierarchy: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57153" y="2484120"/>
            <a:ext cx="11430000" cy="6774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39"/>
              </a:lnSpc>
              <a:spcBef>
                <a:spcPct val="0"/>
              </a:spcBef>
            </a:pPr>
            <a:r>
              <a:rPr lang="en-US" b="true" sz="2399" strike="noStrike" u="none">
                <a:solidFill>
                  <a:srgbClr val="1A1A2E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a7top</a:t>
            </a:r>
          </a:p>
          <a:p>
            <a:pPr algn="l" marL="0" indent="0" lvl="0">
              <a:lnSpc>
                <a:spcPts val="3839"/>
              </a:lnSpc>
              <a:spcBef>
                <a:spcPct val="0"/>
              </a:spcBef>
            </a:pPr>
            <a:r>
              <a:rPr lang="en-US" sz="2399" strike="noStrike" u="none">
                <a:solidFill>
                  <a:srgbClr val="1A1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├── uart</a:t>
            </a:r>
          </a:p>
          <a:p>
            <a:pPr algn="l" marL="0" indent="0" lvl="0">
              <a:lnSpc>
                <a:spcPts val="3839"/>
              </a:lnSpc>
              <a:spcBef>
                <a:spcPct val="0"/>
              </a:spcBef>
            </a:pPr>
            <a:r>
              <a:rPr lang="en-US" sz="2399" strike="noStrike" u="none">
                <a:solidFill>
                  <a:srgbClr val="1A1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│   ├── uart_transmitter</a:t>
            </a:r>
          </a:p>
          <a:p>
            <a:pPr algn="l" marL="0" indent="0" lvl="0">
              <a:lnSpc>
                <a:spcPts val="3839"/>
              </a:lnSpc>
              <a:spcBef>
                <a:spcPct val="0"/>
              </a:spcBef>
            </a:pPr>
            <a:r>
              <a:rPr lang="en-US" sz="2399" strike="noStrike" u="none">
                <a:solidFill>
                  <a:srgbClr val="1A1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│   │   ├── datapath_uart</a:t>
            </a:r>
          </a:p>
          <a:p>
            <a:pPr algn="l" marL="0" indent="0" lvl="0">
              <a:lnSpc>
                <a:spcPts val="3839"/>
              </a:lnSpc>
              <a:spcBef>
                <a:spcPct val="0"/>
              </a:spcBef>
            </a:pPr>
            <a:r>
              <a:rPr lang="en-US" sz="2399" strike="noStrike" u="none">
                <a:solidFill>
                  <a:srgbClr val="1A1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│   │   └── controller_uart</a:t>
            </a:r>
          </a:p>
          <a:p>
            <a:pPr algn="l" marL="0" indent="0" lvl="0">
              <a:lnSpc>
                <a:spcPts val="3839"/>
              </a:lnSpc>
              <a:spcBef>
                <a:spcPct val="0"/>
              </a:spcBef>
            </a:pPr>
            <a:r>
              <a:rPr lang="en-US" sz="2399" strike="noStrike" u="none">
                <a:solidFill>
                  <a:srgbClr val="1A1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│   └── uart_receiver</a:t>
            </a:r>
          </a:p>
          <a:p>
            <a:pPr algn="l" marL="0" indent="0" lvl="0">
              <a:lnSpc>
                <a:spcPts val="3839"/>
              </a:lnSpc>
              <a:spcBef>
                <a:spcPct val="0"/>
              </a:spcBef>
            </a:pPr>
            <a:r>
              <a:rPr lang="en-US" sz="2399" strike="noStrike" u="none">
                <a:solidFill>
                  <a:srgbClr val="1A1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├── tx_fifo</a:t>
            </a:r>
          </a:p>
          <a:p>
            <a:pPr algn="l" marL="0" indent="0" lvl="0">
              <a:lnSpc>
                <a:spcPts val="3839"/>
              </a:lnSpc>
              <a:spcBef>
                <a:spcPct val="0"/>
              </a:spcBef>
            </a:pPr>
            <a:r>
              <a:rPr lang="en-US" sz="2399" strike="noStrike" u="none">
                <a:solidFill>
                  <a:srgbClr val="1A1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│   └── sync_ram</a:t>
            </a:r>
          </a:p>
          <a:p>
            <a:pPr algn="l" marL="0" indent="0" lvl="0">
              <a:lnSpc>
                <a:spcPts val="3839"/>
              </a:lnSpc>
              <a:spcBef>
                <a:spcPct val="0"/>
              </a:spcBef>
            </a:pPr>
            <a:r>
              <a:rPr lang="en-US" sz="2399" strike="noStrike" u="none">
                <a:solidFill>
                  <a:srgbClr val="1A1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├── rx_fifo</a:t>
            </a:r>
          </a:p>
          <a:p>
            <a:pPr algn="l" marL="0" indent="0" lvl="0">
              <a:lnSpc>
                <a:spcPts val="3839"/>
              </a:lnSpc>
              <a:spcBef>
                <a:spcPct val="0"/>
              </a:spcBef>
            </a:pPr>
            <a:r>
              <a:rPr lang="en-US" sz="2399" strike="noStrike" u="none">
                <a:solidFill>
                  <a:srgbClr val="1A1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│   └── sync_ram</a:t>
            </a:r>
          </a:p>
          <a:p>
            <a:pPr algn="l" marL="0" indent="0" lvl="0">
              <a:lnSpc>
                <a:spcPts val="3839"/>
              </a:lnSpc>
              <a:spcBef>
                <a:spcPct val="0"/>
              </a:spcBef>
            </a:pPr>
            <a:r>
              <a:rPr lang="en-US" sz="2399" strike="noStrike" u="none">
                <a:solidFill>
                  <a:srgbClr val="1A1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└── mem_controller</a:t>
            </a:r>
          </a:p>
          <a:p>
            <a:pPr algn="l" marL="0" indent="0" lvl="0">
              <a:lnSpc>
                <a:spcPts val="3839"/>
              </a:lnSpc>
              <a:spcBef>
                <a:spcPct val="0"/>
              </a:spcBef>
            </a:pPr>
            <a:r>
              <a:rPr lang="en-US" sz="2399" strike="noStrike" u="none">
                <a:solidFill>
                  <a:srgbClr val="1A1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├── memory</a:t>
            </a:r>
          </a:p>
          <a:p>
            <a:pPr algn="l" marL="0" indent="0" lvl="0">
              <a:lnSpc>
                <a:spcPts val="3839"/>
              </a:lnSpc>
              <a:spcBef>
                <a:spcPct val="0"/>
              </a:spcBef>
            </a:pPr>
            <a:r>
              <a:rPr lang="en-US" sz="2399" strike="noStrike" u="none">
                <a:solidFill>
                  <a:srgbClr val="1A1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├── datapath_mem_ctrl</a:t>
            </a:r>
          </a:p>
          <a:p>
            <a:pPr algn="l" marL="0" indent="0" lvl="0">
              <a:lnSpc>
                <a:spcPts val="3839"/>
              </a:lnSpc>
              <a:spcBef>
                <a:spcPct val="0"/>
              </a:spcBef>
            </a:pPr>
            <a:r>
              <a:rPr lang="en-US" sz="2399" strike="noStrike" u="none">
                <a:solidFill>
                  <a:srgbClr val="1A1A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└── controller_mem_ctrl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049750" y="9715500"/>
            <a:ext cx="571500" cy="187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40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52400"/>
            <a:chOff x="0" y="0"/>
            <a:chExt cx="24384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03200"/>
            </a:xfrm>
            <a:custGeom>
              <a:avLst/>
              <a:gdLst/>
              <a:ahLst/>
              <a:cxnLst/>
              <a:rect r="r" b="b" t="t" l="l"/>
              <a:pathLst>
                <a:path h="203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4A90D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18288000" cy="152400"/>
            <a:chOff x="0" y="0"/>
            <a:chExt cx="24384000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203200"/>
            </a:xfrm>
            <a:custGeom>
              <a:avLst/>
              <a:gdLst/>
              <a:ahLst/>
              <a:cxnLst/>
              <a:rect r="r" b="b" t="t" l="l"/>
              <a:pathLst>
                <a:path h="203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4A90D9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476500" y="457200"/>
            <a:ext cx="13335000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72"/>
              </a:lnSpc>
              <a:spcBef>
                <a:spcPct val="0"/>
              </a:spcBef>
            </a:pPr>
            <a:r>
              <a:rPr lang="en-US" b="true" sz="6060" strike="noStrike" u="none">
                <a:solidFill>
                  <a:srgbClr val="1A1A2E"/>
                </a:solidFill>
                <a:latin typeface="Aptos Bold"/>
                <a:ea typeface="Aptos Bold"/>
                <a:cs typeface="Aptos Bold"/>
                <a:sym typeface="Aptos Bold"/>
              </a:rPr>
              <a:t>Results</a:t>
            </a:r>
          </a:p>
        </p:txBody>
      </p:sp>
      <p:sp>
        <p:nvSpPr>
          <p:cNvPr name="AutoShape 7" id="7"/>
          <p:cNvSpPr/>
          <p:nvPr/>
        </p:nvSpPr>
        <p:spPr>
          <a:xfrm>
            <a:off x="7239000" y="1371600"/>
            <a:ext cx="3810000" cy="0"/>
          </a:xfrm>
          <a:prstGeom prst="line">
            <a:avLst/>
          </a:prstGeom>
          <a:ln cap="rnd" w="28575">
            <a:solidFill>
              <a:srgbClr val="4A90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4766648"/>
            <a:ext cx="15735300" cy="3638788"/>
          </a:xfrm>
          <a:custGeom>
            <a:avLst/>
            <a:gdLst/>
            <a:ahLst/>
            <a:cxnLst/>
            <a:rect r="r" b="b" t="t" l="l"/>
            <a:pathLst>
              <a:path h="3638788" w="15735300">
                <a:moveTo>
                  <a:pt x="0" y="0"/>
                </a:moveTo>
                <a:lnTo>
                  <a:pt x="15735300" y="0"/>
                </a:lnTo>
                <a:lnTo>
                  <a:pt x="15735300" y="3638788"/>
                </a:lnTo>
                <a:lnTo>
                  <a:pt x="0" y="36387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76350" y="1844685"/>
            <a:ext cx="15240000" cy="2396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99"/>
              </a:lnSpc>
              <a:spcBef>
                <a:spcPct val="0"/>
              </a:spcBef>
            </a:pPr>
            <a:r>
              <a:rPr lang="en-US" sz="2599" strike="noStrike" u="none">
                <a:solidFill>
                  <a:srgbClr val="333333"/>
                </a:solidFill>
                <a:latin typeface="Aptos"/>
                <a:ea typeface="Aptos"/>
                <a:cs typeface="Aptos"/>
                <a:sym typeface="Aptos"/>
              </a:rPr>
              <a:t>All modules passed their simulation tests after simulating with the provided testbench files.</a:t>
            </a:r>
          </a:p>
          <a:p>
            <a:pPr algn="l" marL="0" indent="0" lvl="0">
              <a:lnSpc>
                <a:spcPts val="389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899"/>
              </a:lnSpc>
              <a:spcBef>
                <a:spcPct val="0"/>
              </a:spcBef>
            </a:pPr>
            <a:r>
              <a:rPr lang="en-US" sz="2599" strike="noStrike" u="none">
                <a:solidFill>
                  <a:srgbClr val="333333"/>
                </a:solidFill>
                <a:latin typeface="Aptos"/>
                <a:ea typeface="Aptos"/>
                <a:cs typeface="Aptos"/>
                <a:sym typeface="Aptos"/>
              </a:rPr>
              <a:t>The functionality of the complete system was verified. The flow of information:</a:t>
            </a:r>
          </a:p>
          <a:p>
            <a:pPr algn="l" marL="0" indent="0" lvl="0">
              <a:lnSpc>
                <a:spcPts val="389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899"/>
              </a:lnSpc>
              <a:spcBef>
                <a:spcPct val="0"/>
              </a:spcBef>
            </a:pPr>
            <a:r>
              <a:rPr lang="en-US" sz="2599" strike="noStrike" u="none">
                <a:solidFill>
                  <a:srgbClr val="333333"/>
                </a:solidFill>
                <a:latin typeface="Aptos"/>
                <a:ea typeface="Aptos"/>
                <a:cs typeface="Aptos"/>
                <a:sym typeface="Aptos"/>
              </a:rPr>
              <a:t>    UART  -&gt;  RX_FIFO  -&gt;  Memory Controller  -&gt;  Memory  -&gt;  TX_FIFO  -&gt;  UART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857750" y="8695949"/>
            <a:ext cx="85725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19"/>
              </a:lnSpc>
              <a:spcBef>
                <a:spcPct val="0"/>
              </a:spcBef>
            </a:pPr>
            <a:r>
              <a:rPr lang="en-US" b="true" sz="2599" strike="noStrike" u="none">
                <a:solidFill>
                  <a:srgbClr val="1A1A2E"/>
                </a:solidFill>
                <a:latin typeface="Aptos Bold"/>
                <a:ea typeface="Aptos Bold"/>
                <a:cs typeface="Aptos Bold"/>
                <a:sym typeface="Aptos Bold"/>
              </a:rPr>
              <a:t>Simulation Results of the Complete System - Questa Sim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049750" y="9715500"/>
            <a:ext cx="571500" cy="187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40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52400"/>
            <a:chOff x="0" y="0"/>
            <a:chExt cx="24384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03200"/>
            </a:xfrm>
            <a:custGeom>
              <a:avLst/>
              <a:gdLst/>
              <a:ahLst/>
              <a:cxnLst/>
              <a:rect r="r" b="b" t="t" l="l"/>
              <a:pathLst>
                <a:path h="203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4A90D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18288000" cy="152400"/>
            <a:chOff x="0" y="0"/>
            <a:chExt cx="24384000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203200"/>
            </a:xfrm>
            <a:custGeom>
              <a:avLst/>
              <a:gdLst/>
              <a:ahLst/>
              <a:cxnLst/>
              <a:rect r="r" b="b" t="t" l="l"/>
              <a:pathLst>
                <a:path h="203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4A90D9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476500" y="457200"/>
            <a:ext cx="13335000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72"/>
              </a:lnSpc>
              <a:spcBef>
                <a:spcPct val="0"/>
              </a:spcBef>
            </a:pPr>
            <a:r>
              <a:rPr lang="en-US" b="true" sz="6060" strike="noStrike" u="none">
                <a:solidFill>
                  <a:srgbClr val="1A1A2E"/>
                </a:solidFill>
                <a:latin typeface="Aptos Bold"/>
                <a:ea typeface="Aptos Bold"/>
                <a:cs typeface="Aptos Bold"/>
                <a:sym typeface="Aptos Bold"/>
              </a:rPr>
              <a:t>FPGA Demo</a:t>
            </a:r>
          </a:p>
        </p:txBody>
      </p:sp>
      <p:sp>
        <p:nvSpPr>
          <p:cNvPr name="AutoShape 7" id="7"/>
          <p:cNvSpPr/>
          <p:nvPr/>
        </p:nvSpPr>
        <p:spPr>
          <a:xfrm>
            <a:off x="7239000" y="1371600"/>
            <a:ext cx="3810000" cy="0"/>
          </a:xfrm>
          <a:prstGeom prst="line">
            <a:avLst/>
          </a:prstGeom>
          <a:ln cap="rnd" w="28575">
            <a:solidFill>
              <a:srgbClr val="4A90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2213752" y="4286250"/>
            <a:ext cx="8818460" cy="4906941"/>
          </a:xfrm>
          <a:custGeom>
            <a:avLst/>
            <a:gdLst/>
            <a:ahLst/>
            <a:cxnLst/>
            <a:rect r="r" b="b" t="t" l="l"/>
            <a:pathLst>
              <a:path h="4906941" w="8818460">
                <a:moveTo>
                  <a:pt x="0" y="0"/>
                </a:moveTo>
                <a:lnTo>
                  <a:pt x="8818460" y="0"/>
                </a:lnTo>
                <a:lnTo>
                  <a:pt x="8818460" y="4906941"/>
                </a:lnTo>
                <a:lnTo>
                  <a:pt x="0" y="49069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45847" b="-249613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43617" y="1664192"/>
            <a:ext cx="15407464" cy="2396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96"/>
              </a:lnSpc>
              <a:spcBef>
                <a:spcPct val="0"/>
              </a:spcBef>
            </a:pPr>
            <a:r>
              <a:rPr lang="en-US" sz="2597" strike="noStrike" u="none">
                <a:solidFill>
                  <a:srgbClr val="333333"/>
                </a:solidFill>
                <a:latin typeface="Aptos"/>
                <a:ea typeface="Aptos"/>
                <a:cs typeface="Aptos"/>
                <a:sym typeface="Aptos"/>
              </a:rPr>
              <a:t>The system was synthesized using Xilinx Vivado and programmed onto the Nexys A7 FPGA.</a:t>
            </a:r>
          </a:p>
          <a:p>
            <a:pPr algn="l" marL="0" indent="0" lvl="0">
              <a:lnSpc>
                <a:spcPts val="3896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896"/>
              </a:lnSpc>
              <a:spcBef>
                <a:spcPct val="0"/>
              </a:spcBef>
            </a:pPr>
            <a:r>
              <a:rPr lang="en-US" sz="2597" strike="noStrike" u="none">
                <a:solidFill>
                  <a:srgbClr val="333333"/>
                </a:solidFill>
                <a:latin typeface="Aptos"/>
                <a:ea typeface="Aptos"/>
                <a:cs typeface="Aptos"/>
                <a:sym typeface="Aptos"/>
              </a:rPr>
              <a:t>The PuTTY terminal on the host PC was used to send and receive bytes to/from the FPGA over UART.</a:t>
            </a:r>
          </a:p>
          <a:p>
            <a:pPr algn="l" marL="0" indent="0" lvl="0">
              <a:lnSpc>
                <a:spcPts val="3896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896"/>
              </a:lnSpc>
              <a:spcBef>
                <a:spcPct val="0"/>
              </a:spcBef>
            </a:pPr>
            <a:r>
              <a:rPr lang="en-US" sz="2597" strike="noStrike" u="none">
                <a:solidFill>
                  <a:srgbClr val="333333"/>
                </a:solidFill>
                <a:latin typeface="Aptos"/>
                <a:ea typeface="Aptos"/>
                <a:cs typeface="Aptos"/>
                <a:sym typeface="Aptos"/>
              </a:rPr>
              <a:t>Multiple read and write packets were sent, and the read data was successfully received back from the FPGA.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213752" y="9320212"/>
            <a:ext cx="85725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19"/>
              </a:lnSpc>
              <a:spcBef>
                <a:spcPct val="0"/>
              </a:spcBef>
            </a:pPr>
            <a:r>
              <a:rPr lang="en-US" b="true" sz="2599" strike="noStrike" u="none">
                <a:solidFill>
                  <a:srgbClr val="1A1A2E"/>
                </a:solidFill>
                <a:latin typeface="Aptos Bold"/>
                <a:ea typeface="Aptos Bold"/>
                <a:cs typeface="Aptos Bold"/>
                <a:sym typeface="Aptos Bold"/>
              </a:rPr>
              <a:t>FPGA Demo - PuTTY Terminal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3121498" y="8801100"/>
            <a:ext cx="2667000" cy="533400"/>
            <a:chOff x="0" y="0"/>
            <a:chExt cx="3556000" cy="711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556000" cy="711200"/>
            </a:xfrm>
            <a:custGeom>
              <a:avLst/>
              <a:gdLst/>
              <a:ahLst/>
              <a:cxnLst/>
              <a:rect r="r" b="b" t="t" l="l"/>
              <a:pathLst>
                <a:path h="711200" w="3556000">
                  <a:moveTo>
                    <a:pt x="71120" y="0"/>
                  </a:moveTo>
                  <a:lnTo>
                    <a:pt x="3484880" y="0"/>
                  </a:lnTo>
                  <a:cubicBezTo>
                    <a:pt x="3503742" y="0"/>
                    <a:pt x="3521832" y="7493"/>
                    <a:pt x="3535169" y="20831"/>
                  </a:cubicBezTo>
                  <a:cubicBezTo>
                    <a:pt x="3548507" y="34168"/>
                    <a:pt x="3556000" y="52258"/>
                    <a:pt x="3556000" y="71120"/>
                  </a:cubicBezTo>
                  <a:lnTo>
                    <a:pt x="3556000" y="640080"/>
                  </a:lnTo>
                  <a:cubicBezTo>
                    <a:pt x="3556000" y="658942"/>
                    <a:pt x="3548507" y="677032"/>
                    <a:pt x="3535169" y="690369"/>
                  </a:cubicBezTo>
                  <a:cubicBezTo>
                    <a:pt x="3521832" y="703707"/>
                    <a:pt x="3503742" y="711200"/>
                    <a:pt x="3484880" y="711200"/>
                  </a:cubicBezTo>
                  <a:lnTo>
                    <a:pt x="71120" y="711200"/>
                  </a:lnTo>
                  <a:cubicBezTo>
                    <a:pt x="31842" y="711200"/>
                    <a:pt x="0" y="679358"/>
                    <a:pt x="0" y="640080"/>
                  </a:cubicBezTo>
                  <a:lnTo>
                    <a:pt x="0" y="71120"/>
                  </a:lnTo>
                  <a:cubicBezTo>
                    <a:pt x="0" y="31842"/>
                    <a:pt x="31842" y="0"/>
                    <a:pt x="7112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A90D9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3556000" cy="758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 strike="noStrike" u="none">
                  <a:solidFill>
                    <a:srgbClr val="1A1A2E"/>
                  </a:solidFill>
                  <a:latin typeface="Inter"/>
                  <a:ea typeface="Inter"/>
                  <a:cs typeface="Inter"/>
                  <a:sym typeface="Inter"/>
                </a:rPr>
                <a:t>UART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>
            <a:off x="14454998" y="8648700"/>
            <a:ext cx="0" cy="152400"/>
          </a:xfrm>
          <a:prstGeom prst="line">
            <a:avLst/>
          </a:prstGeom>
          <a:ln cap="rnd" w="19050">
            <a:solidFill>
              <a:srgbClr val="4A90D9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5" id="15"/>
          <p:cNvGrpSpPr/>
          <p:nvPr/>
        </p:nvGrpSpPr>
        <p:grpSpPr>
          <a:xfrm rot="0">
            <a:off x="13121498" y="8115300"/>
            <a:ext cx="2667000" cy="533400"/>
            <a:chOff x="0" y="0"/>
            <a:chExt cx="3556000" cy="711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556000" cy="711200"/>
            </a:xfrm>
            <a:custGeom>
              <a:avLst/>
              <a:gdLst/>
              <a:ahLst/>
              <a:cxnLst/>
              <a:rect r="r" b="b" t="t" l="l"/>
              <a:pathLst>
                <a:path h="711200" w="3556000">
                  <a:moveTo>
                    <a:pt x="71120" y="0"/>
                  </a:moveTo>
                  <a:lnTo>
                    <a:pt x="3484880" y="0"/>
                  </a:lnTo>
                  <a:cubicBezTo>
                    <a:pt x="3503742" y="0"/>
                    <a:pt x="3521832" y="7493"/>
                    <a:pt x="3535169" y="20831"/>
                  </a:cubicBezTo>
                  <a:cubicBezTo>
                    <a:pt x="3548507" y="34168"/>
                    <a:pt x="3556000" y="52258"/>
                    <a:pt x="3556000" y="71120"/>
                  </a:cubicBezTo>
                  <a:lnTo>
                    <a:pt x="3556000" y="640080"/>
                  </a:lnTo>
                  <a:cubicBezTo>
                    <a:pt x="3556000" y="658942"/>
                    <a:pt x="3548507" y="677032"/>
                    <a:pt x="3535169" y="690369"/>
                  </a:cubicBezTo>
                  <a:cubicBezTo>
                    <a:pt x="3521832" y="703707"/>
                    <a:pt x="3503742" y="711200"/>
                    <a:pt x="3484880" y="711200"/>
                  </a:cubicBezTo>
                  <a:lnTo>
                    <a:pt x="71120" y="711200"/>
                  </a:lnTo>
                  <a:cubicBezTo>
                    <a:pt x="31842" y="711200"/>
                    <a:pt x="0" y="679358"/>
                    <a:pt x="0" y="640080"/>
                  </a:cubicBezTo>
                  <a:lnTo>
                    <a:pt x="0" y="71120"/>
                  </a:lnTo>
                  <a:cubicBezTo>
                    <a:pt x="0" y="31842"/>
                    <a:pt x="31842" y="0"/>
                    <a:pt x="7112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A90D9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3556000" cy="758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 strike="noStrike" u="none">
                  <a:solidFill>
                    <a:srgbClr val="1A1A2E"/>
                  </a:solidFill>
                  <a:latin typeface="Inter"/>
                  <a:ea typeface="Inter"/>
                  <a:cs typeface="Inter"/>
                  <a:sym typeface="Inter"/>
                </a:rPr>
                <a:t>TX FIFO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>
            <a:off x="14454998" y="7962900"/>
            <a:ext cx="0" cy="152400"/>
          </a:xfrm>
          <a:prstGeom prst="line">
            <a:avLst/>
          </a:prstGeom>
          <a:ln cap="rnd" w="19050">
            <a:solidFill>
              <a:srgbClr val="4A90D9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9" id="19"/>
          <p:cNvGrpSpPr/>
          <p:nvPr/>
        </p:nvGrpSpPr>
        <p:grpSpPr>
          <a:xfrm rot="0">
            <a:off x="12835748" y="7429500"/>
            <a:ext cx="3238500" cy="533400"/>
            <a:chOff x="0" y="0"/>
            <a:chExt cx="4318000" cy="711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318000" cy="711200"/>
            </a:xfrm>
            <a:custGeom>
              <a:avLst/>
              <a:gdLst/>
              <a:ahLst/>
              <a:cxnLst/>
              <a:rect r="r" b="b" t="t" l="l"/>
              <a:pathLst>
                <a:path h="711200" w="4318000">
                  <a:moveTo>
                    <a:pt x="71120" y="0"/>
                  </a:moveTo>
                  <a:lnTo>
                    <a:pt x="4246880" y="0"/>
                  </a:lnTo>
                  <a:cubicBezTo>
                    <a:pt x="4265742" y="0"/>
                    <a:pt x="4283832" y="7493"/>
                    <a:pt x="4297169" y="20831"/>
                  </a:cubicBezTo>
                  <a:cubicBezTo>
                    <a:pt x="4310507" y="34168"/>
                    <a:pt x="4318000" y="52258"/>
                    <a:pt x="4318000" y="71120"/>
                  </a:cubicBezTo>
                  <a:lnTo>
                    <a:pt x="4318000" y="640080"/>
                  </a:lnTo>
                  <a:cubicBezTo>
                    <a:pt x="4318000" y="658942"/>
                    <a:pt x="4310507" y="677032"/>
                    <a:pt x="4297169" y="690369"/>
                  </a:cubicBezTo>
                  <a:cubicBezTo>
                    <a:pt x="4283832" y="703707"/>
                    <a:pt x="4265742" y="711200"/>
                    <a:pt x="4246880" y="711200"/>
                  </a:cubicBezTo>
                  <a:lnTo>
                    <a:pt x="71120" y="711200"/>
                  </a:lnTo>
                  <a:cubicBezTo>
                    <a:pt x="31842" y="711200"/>
                    <a:pt x="0" y="679358"/>
                    <a:pt x="0" y="640080"/>
                  </a:cubicBezTo>
                  <a:lnTo>
                    <a:pt x="0" y="71120"/>
                  </a:lnTo>
                  <a:cubicBezTo>
                    <a:pt x="0" y="31842"/>
                    <a:pt x="31842" y="0"/>
                    <a:pt x="7112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A90D9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4318000" cy="758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 strike="noStrike" u="none">
                  <a:solidFill>
                    <a:srgbClr val="1A1A2E"/>
                  </a:solidFill>
                  <a:latin typeface="Inter"/>
                  <a:ea typeface="Inter"/>
                  <a:cs typeface="Inter"/>
                  <a:sym typeface="Inter"/>
                </a:rPr>
                <a:t>Memory Controller</a:t>
              </a:r>
            </a:p>
          </p:txBody>
        </p:sp>
      </p:grpSp>
      <p:sp>
        <p:nvSpPr>
          <p:cNvPr name="AutoShape 22" id="22"/>
          <p:cNvSpPr/>
          <p:nvPr/>
        </p:nvSpPr>
        <p:spPr>
          <a:xfrm>
            <a:off x="14454998" y="7277100"/>
            <a:ext cx="0" cy="152400"/>
          </a:xfrm>
          <a:prstGeom prst="line">
            <a:avLst/>
          </a:prstGeom>
          <a:ln cap="rnd" w="19050">
            <a:solidFill>
              <a:srgbClr val="4A90D9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3" id="23"/>
          <p:cNvGrpSpPr/>
          <p:nvPr/>
        </p:nvGrpSpPr>
        <p:grpSpPr>
          <a:xfrm rot="0">
            <a:off x="13121498" y="6743700"/>
            <a:ext cx="2667000" cy="533400"/>
            <a:chOff x="0" y="0"/>
            <a:chExt cx="3556000" cy="7112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556000" cy="711200"/>
            </a:xfrm>
            <a:custGeom>
              <a:avLst/>
              <a:gdLst/>
              <a:ahLst/>
              <a:cxnLst/>
              <a:rect r="r" b="b" t="t" l="l"/>
              <a:pathLst>
                <a:path h="711200" w="3556000">
                  <a:moveTo>
                    <a:pt x="71120" y="0"/>
                  </a:moveTo>
                  <a:lnTo>
                    <a:pt x="3484880" y="0"/>
                  </a:lnTo>
                  <a:cubicBezTo>
                    <a:pt x="3503742" y="0"/>
                    <a:pt x="3521832" y="7493"/>
                    <a:pt x="3535169" y="20831"/>
                  </a:cubicBezTo>
                  <a:cubicBezTo>
                    <a:pt x="3548507" y="34168"/>
                    <a:pt x="3556000" y="52258"/>
                    <a:pt x="3556000" y="71120"/>
                  </a:cubicBezTo>
                  <a:lnTo>
                    <a:pt x="3556000" y="640080"/>
                  </a:lnTo>
                  <a:cubicBezTo>
                    <a:pt x="3556000" y="658942"/>
                    <a:pt x="3548507" y="677032"/>
                    <a:pt x="3535169" y="690369"/>
                  </a:cubicBezTo>
                  <a:cubicBezTo>
                    <a:pt x="3521832" y="703707"/>
                    <a:pt x="3503742" y="711200"/>
                    <a:pt x="3484880" y="711200"/>
                  </a:cubicBezTo>
                  <a:lnTo>
                    <a:pt x="71120" y="711200"/>
                  </a:lnTo>
                  <a:cubicBezTo>
                    <a:pt x="31842" y="711200"/>
                    <a:pt x="0" y="679358"/>
                    <a:pt x="0" y="640080"/>
                  </a:cubicBezTo>
                  <a:lnTo>
                    <a:pt x="0" y="71120"/>
                  </a:lnTo>
                  <a:cubicBezTo>
                    <a:pt x="0" y="31842"/>
                    <a:pt x="31842" y="0"/>
                    <a:pt x="7112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A90D9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3556000" cy="758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 strike="noStrike" u="none">
                  <a:solidFill>
                    <a:srgbClr val="1A1A2E"/>
                  </a:solidFill>
                  <a:latin typeface="Inter"/>
                  <a:ea typeface="Inter"/>
                  <a:cs typeface="Inter"/>
                  <a:sym typeface="Inter"/>
                </a:rPr>
                <a:t>RX FIFO</a:t>
              </a:r>
            </a:p>
          </p:txBody>
        </p:sp>
      </p:grpSp>
      <p:sp>
        <p:nvSpPr>
          <p:cNvPr name="AutoShape 26" id="26"/>
          <p:cNvSpPr/>
          <p:nvPr/>
        </p:nvSpPr>
        <p:spPr>
          <a:xfrm>
            <a:off x="14454998" y="6591300"/>
            <a:ext cx="0" cy="152400"/>
          </a:xfrm>
          <a:prstGeom prst="line">
            <a:avLst/>
          </a:prstGeom>
          <a:ln cap="rnd" w="19050">
            <a:solidFill>
              <a:srgbClr val="4A90D9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7" id="27"/>
          <p:cNvGrpSpPr/>
          <p:nvPr/>
        </p:nvGrpSpPr>
        <p:grpSpPr>
          <a:xfrm rot="0">
            <a:off x="13121498" y="6057900"/>
            <a:ext cx="2667000" cy="533400"/>
            <a:chOff x="0" y="0"/>
            <a:chExt cx="3556000" cy="711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556000" cy="711200"/>
            </a:xfrm>
            <a:custGeom>
              <a:avLst/>
              <a:gdLst/>
              <a:ahLst/>
              <a:cxnLst/>
              <a:rect r="r" b="b" t="t" l="l"/>
              <a:pathLst>
                <a:path h="711200" w="3556000">
                  <a:moveTo>
                    <a:pt x="71120" y="0"/>
                  </a:moveTo>
                  <a:lnTo>
                    <a:pt x="3484880" y="0"/>
                  </a:lnTo>
                  <a:cubicBezTo>
                    <a:pt x="3503742" y="0"/>
                    <a:pt x="3521832" y="7493"/>
                    <a:pt x="3535169" y="20831"/>
                  </a:cubicBezTo>
                  <a:cubicBezTo>
                    <a:pt x="3548507" y="34168"/>
                    <a:pt x="3556000" y="52258"/>
                    <a:pt x="3556000" y="71120"/>
                  </a:cubicBezTo>
                  <a:lnTo>
                    <a:pt x="3556000" y="640080"/>
                  </a:lnTo>
                  <a:cubicBezTo>
                    <a:pt x="3556000" y="658942"/>
                    <a:pt x="3548507" y="677032"/>
                    <a:pt x="3535169" y="690369"/>
                  </a:cubicBezTo>
                  <a:cubicBezTo>
                    <a:pt x="3521832" y="703707"/>
                    <a:pt x="3503742" y="711200"/>
                    <a:pt x="3484880" y="711200"/>
                  </a:cubicBezTo>
                  <a:lnTo>
                    <a:pt x="71120" y="711200"/>
                  </a:lnTo>
                  <a:cubicBezTo>
                    <a:pt x="31842" y="711200"/>
                    <a:pt x="0" y="679358"/>
                    <a:pt x="0" y="640080"/>
                  </a:cubicBezTo>
                  <a:lnTo>
                    <a:pt x="0" y="71120"/>
                  </a:lnTo>
                  <a:cubicBezTo>
                    <a:pt x="0" y="31842"/>
                    <a:pt x="31842" y="0"/>
                    <a:pt x="7112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A90D9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3556000" cy="758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 strike="noStrike" u="none">
                  <a:solidFill>
                    <a:srgbClr val="1A1A2E"/>
                  </a:solidFill>
                  <a:latin typeface="Inter"/>
                  <a:ea typeface="Inter"/>
                  <a:cs typeface="Inter"/>
                  <a:sym typeface="Inter"/>
                </a:rPr>
                <a:t>UART</a:t>
              </a:r>
            </a:p>
          </p:txBody>
        </p:sp>
      </p:grpSp>
      <p:sp>
        <p:nvSpPr>
          <p:cNvPr name="AutoShape 30" id="30"/>
          <p:cNvSpPr/>
          <p:nvPr/>
        </p:nvSpPr>
        <p:spPr>
          <a:xfrm>
            <a:off x="14454998" y="5905500"/>
            <a:ext cx="0" cy="152400"/>
          </a:xfrm>
          <a:prstGeom prst="line">
            <a:avLst/>
          </a:prstGeom>
          <a:ln cap="rnd" w="19050">
            <a:solidFill>
              <a:srgbClr val="4A90D9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1" id="31"/>
          <p:cNvGrpSpPr/>
          <p:nvPr/>
        </p:nvGrpSpPr>
        <p:grpSpPr>
          <a:xfrm rot="0">
            <a:off x="13121498" y="5372100"/>
            <a:ext cx="2667000" cy="533400"/>
            <a:chOff x="0" y="0"/>
            <a:chExt cx="3556000" cy="7112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556000" cy="711200"/>
            </a:xfrm>
            <a:custGeom>
              <a:avLst/>
              <a:gdLst/>
              <a:ahLst/>
              <a:cxnLst/>
              <a:rect r="r" b="b" t="t" l="l"/>
              <a:pathLst>
                <a:path h="711200" w="3556000">
                  <a:moveTo>
                    <a:pt x="71120" y="0"/>
                  </a:moveTo>
                  <a:lnTo>
                    <a:pt x="3484880" y="0"/>
                  </a:lnTo>
                  <a:cubicBezTo>
                    <a:pt x="3503742" y="0"/>
                    <a:pt x="3521832" y="7493"/>
                    <a:pt x="3535169" y="20831"/>
                  </a:cubicBezTo>
                  <a:cubicBezTo>
                    <a:pt x="3548507" y="34168"/>
                    <a:pt x="3556000" y="52258"/>
                    <a:pt x="3556000" y="71120"/>
                  </a:cubicBezTo>
                  <a:lnTo>
                    <a:pt x="3556000" y="640080"/>
                  </a:lnTo>
                  <a:cubicBezTo>
                    <a:pt x="3556000" y="658942"/>
                    <a:pt x="3548507" y="677032"/>
                    <a:pt x="3535169" y="690369"/>
                  </a:cubicBezTo>
                  <a:cubicBezTo>
                    <a:pt x="3521832" y="703707"/>
                    <a:pt x="3503742" y="711200"/>
                    <a:pt x="3484880" y="711200"/>
                  </a:cubicBezTo>
                  <a:lnTo>
                    <a:pt x="71120" y="711200"/>
                  </a:lnTo>
                  <a:cubicBezTo>
                    <a:pt x="31842" y="711200"/>
                    <a:pt x="0" y="679358"/>
                    <a:pt x="0" y="640080"/>
                  </a:cubicBezTo>
                  <a:lnTo>
                    <a:pt x="0" y="71120"/>
                  </a:lnTo>
                  <a:cubicBezTo>
                    <a:pt x="0" y="31842"/>
                    <a:pt x="31842" y="0"/>
                    <a:pt x="7112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A90D9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3556000" cy="758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 strike="noStrike" u="none">
                  <a:solidFill>
                    <a:srgbClr val="1A1A2E"/>
                  </a:solidFill>
                  <a:latin typeface="Inter"/>
                  <a:ea typeface="Inter"/>
                  <a:cs typeface="Inter"/>
                  <a:sym typeface="Inter"/>
                </a:rPr>
                <a:t>USB-UART Bridge</a:t>
              </a:r>
            </a:p>
          </p:txBody>
        </p:sp>
      </p:grpSp>
      <p:sp>
        <p:nvSpPr>
          <p:cNvPr name="AutoShape 34" id="34"/>
          <p:cNvSpPr/>
          <p:nvPr/>
        </p:nvSpPr>
        <p:spPr>
          <a:xfrm>
            <a:off x="14454998" y="5219700"/>
            <a:ext cx="0" cy="152400"/>
          </a:xfrm>
          <a:prstGeom prst="line">
            <a:avLst/>
          </a:prstGeom>
          <a:ln cap="rnd" w="19050">
            <a:solidFill>
              <a:srgbClr val="4A90D9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5" id="35"/>
          <p:cNvGrpSpPr/>
          <p:nvPr/>
        </p:nvGrpSpPr>
        <p:grpSpPr>
          <a:xfrm rot="0">
            <a:off x="13121498" y="4686300"/>
            <a:ext cx="2667000" cy="545811"/>
            <a:chOff x="0" y="0"/>
            <a:chExt cx="3556000" cy="72774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556000" cy="727749"/>
            </a:xfrm>
            <a:custGeom>
              <a:avLst/>
              <a:gdLst/>
              <a:ahLst/>
              <a:cxnLst/>
              <a:rect r="r" b="b" t="t" l="l"/>
              <a:pathLst>
                <a:path h="727749" w="3556000">
                  <a:moveTo>
                    <a:pt x="71120" y="0"/>
                  </a:moveTo>
                  <a:lnTo>
                    <a:pt x="3484880" y="0"/>
                  </a:lnTo>
                  <a:cubicBezTo>
                    <a:pt x="3503742" y="0"/>
                    <a:pt x="3521832" y="7667"/>
                    <a:pt x="3535169" y="21315"/>
                  </a:cubicBezTo>
                  <a:cubicBezTo>
                    <a:pt x="3548507" y="34963"/>
                    <a:pt x="3556000" y="53474"/>
                    <a:pt x="3556000" y="72775"/>
                  </a:cubicBezTo>
                  <a:lnTo>
                    <a:pt x="3556000" y="654974"/>
                  </a:lnTo>
                  <a:cubicBezTo>
                    <a:pt x="3556000" y="674275"/>
                    <a:pt x="3548507" y="692785"/>
                    <a:pt x="3535169" y="706433"/>
                  </a:cubicBezTo>
                  <a:cubicBezTo>
                    <a:pt x="3521832" y="720081"/>
                    <a:pt x="3503742" y="727749"/>
                    <a:pt x="3484880" y="727749"/>
                  </a:cubicBezTo>
                  <a:lnTo>
                    <a:pt x="71120" y="727749"/>
                  </a:lnTo>
                  <a:cubicBezTo>
                    <a:pt x="31842" y="727749"/>
                    <a:pt x="0" y="695166"/>
                    <a:pt x="0" y="654974"/>
                  </a:cubicBezTo>
                  <a:lnTo>
                    <a:pt x="0" y="72775"/>
                  </a:lnTo>
                  <a:cubicBezTo>
                    <a:pt x="0" y="32582"/>
                    <a:pt x="31842" y="0"/>
                    <a:pt x="7112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A90D9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3556000" cy="7753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 strike="noStrike" u="none">
                  <a:solidFill>
                    <a:srgbClr val="1A1A2E"/>
                  </a:solidFill>
                  <a:latin typeface="Inter"/>
                  <a:ea typeface="Inter"/>
                  <a:cs typeface="Inter"/>
                  <a:sym typeface="Inter"/>
                </a:rPr>
                <a:t>PuTTY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7335500" y="9715500"/>
            <a:ext cx="571500" cy="187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40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52400"/>
            <a:chOff x="0" y="0"/>
            <a:chExt cx="24384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03200"/>
            </a:xfrm>
            <a:custGeom>
              <a:avLst/>
              <a:gdLst/>
              <a:ahLst/>
              <a:cxnLst/>
              <a:rect r="r" b="b" t="t" l="l"/>
              <a:pathLst>
                <a:path h="203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4A90D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18288000" cy="152400"/>
            <a:chOff x="0" y="0"/>
            <a:chExt cx="24384000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203200"/>
            </a:xfrm>
            <a:custGeom>
              <a:avLst/>
              <a:gdLst/>
              <a:ahLst/>
              <a:cxnLst/>
              <a:rect r="r" b="b" t="t" l="l"/>
              <a:pathLst>
                <a:path h="203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4A90D9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476500" y="457200"/>
            <a:ext cx="13335000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72"/>
              </a:lnSpc>
              <a:spcBef>
                <a:spcPct val="0"/>
              </a:spcBef>
            </a:pPr>
            <a:r>
              <a:rPr lang="en-US" b="true" sz="6060" strike="noStrike" u="none">
                <a:solidFill>
                  <a:srgbClr val="1A1A2E"/>
                </a:solidFill>
                <a:latin typeface="Aptos Bold"/>
                <a:ea typeface="Aptos Bold"/>
                <a:cs typeface="Aptos Bold"/>
                <a:sym typeface="Aptos Bold"/>
              </a:rPr>
              <a:t>Conclusion</a:t>
            </a:r>
          </a:p>
        </p:txBody>
      </p:sp>
      <p:sp>
        <p:nvSpPr>
          <p:cNvPr name="AutoShape 7" id="7"/>
          <p:cNvSpPr/>
          <p:nvPr/>
        </p:nvSpPr>
        <p:spPr>
          <a:xfrm>
            <a:off x="7239000" y="1371600"/>
            <a:ext cx="3810000" cy="0"/>
          </a:xfrm>
          <a:prstGeom prst="line">
            <a:avLst/>
          </a:prstGeom>
          <a:ln cap="rnd" w="28575">
            <a:solidFill>
              <a:srgbClr val="4A90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524000" y="2495550"/>
            <a:ext cx="15240000" cy="5201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6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333333"/>
                </a:solidFill>
                <a:latin typeface="Aptos"/>
                <a:ea typeface="Aptos"/>
                <a:cs typeface="Aptos"/>
                <a:sym typeface="Aptos"/>
              </a:rPr>
              <a:t>A complete UART-based device communication system was designed and implemented in SystemVerilog.</a:t>
            </a:r>
          </a:p>
          <a:p>
            <a:pPr algn="l" marL="0" indent="0" lvl="0">
              <a:lnSpc>
                <a:spcPts val="416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416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333333"/>
                </a:solidFill>
                <a:latin typeface="Aptos"/>
                <a:ea typeface="Aptos"/>
                <a:cs typeface="Aptos"/>
                <a:sym typeface="Aptos"/>
              </a:rPr>
              <a:t>The system enables a host PC to read from and write to FPGA memory at 115200 baud, using FIFO buffers for flow control and reliable data transfer.</a:t>
            </a:r>
          </a:p>
          <a:p>
            <a:pPr algn="l" marL="0" indent="0" lvl="0">
              <a:lnSpc>
                <a:spcPts val="416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416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333333"/>
                </a:solidFill>
                <a:latin typeface="Aptos"/>
                <a:ea typeface="Aptos"/>
                <a:cs typeface="Aptos"/>
                <a:sym typeface="Aptos"/>
              </a:rPr>
              <a:t>All modules were individually verified through simulation in Questa Sim, and the full system was validated both in simulation and on the Nexys A7 FPGA.</a:t>
            </a:r>
          </a:p>
          <a:p>
            <a:pPr algn="l" marL="0" indent="0" lvl="0">
              <a:lnSpc>
                <a:spcPts val="416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416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333333"/>
                </a:solidFill>
                <a:latin typeface="Aptos"/>
                <a:ea typeface="Aptos"/>
                <a:cs typeface="Aptos"/>
                <a:sym typeface="Aptos"/>
              </a:rPr>
              <a:t>This project demonstrated device communication using UART, to interface between a host computer and a synchronous memory block.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335500" y="9715500"/>
            <a:ext cx="571500" cy="187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40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52400"/>
            <a:chOff x="0" y="0"/>
            <a:chExt cx="24384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03200"/>
            </a:xfrm>
            <a:custGeom>
              <a:avLst/>
              <a:gdLst/>
              <a:ahLst/>
              <a:cxnLst/>
              <a:rect r="r" b="b" t="t" l="l"/>
              <a:pathLst>
                <a:path h="203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4A90D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18288000" cy="152400"/>
            <a:chOff x="0" y="0"/>
            <a:chExt cx="24384000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203200"/>
            </a:xfrm>
            <a:custGeom>
              <a:avLst/>
              <a:gdLst/>
              <a:ahLst/>
              <a:cxnLst/>
              <a:rect r="r" b="b" t="t" l="l"/>
              <a:pathLst>
                <a:path h="203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4A90D9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5334000" y="4191000"/>
            <a:ext cx="7620000" cy="190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072"/>
              </a:lnSpc>
              <a:spcBef>
                <a:spcPct val="0"/>
              </a:spcBef>
            </a:pPr>
            <a:r>
              <a:rPr lang="en-US" b="true" sz="12560" strike="noStrike" u="none">
                <a:solidFill>
                  <a:srgbClr val="1A1A2E"/>
                </a:solidFill>
                <a:latin typeface="Aptos Bold"/>
                <a:ea typeface="Aptos Bold"/>
                <a:cs typeface="Aptos Bold"/>
                <a:sym typeface="Aptos Bold"/>
              </a:rPr>
              <a:t>Q&amp;A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335500" y="9715500"/>
            <a:ext cx="571500" cy="187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40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DAHL_lhJLE4</dc:identifier>
  <dcterms:modified xsi:type="dcterms:W3CDTF">2011-08-01T06:04:30Z</dcterms:modified>
  <cp:revision>1</cp:revision>
  <dc:title>UART Device Communication Page</dc:title>
</cp:coreProperties>
</file>